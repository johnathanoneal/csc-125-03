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Lexend Light"/>
      <p:regular r:id="rId12"/>
      <p:bold r:id="rId13"/>
    </p:embeddedFont>
    <p:embeddedFont>
      <p:font typeface="Lexend Medium"/>
      <p:regular r:id="rId14"/>
      <p:bold r:id="rId15"/>
    </p:embeddedFont>
    <p:embeddedFont>
      <p:font typeface="DM Sans SemiBold"/>
      <p:regular r:id="rId16"/>
      <p:bold r:id="rId17"/>
      <p:italic r:id="rId18"/>
      <p:boldItalic r:id="rId19"/>
    </p:embeddedFont>
    <p:embeddedFont>
      <p:font typeface="Lexend"/>
      <p:regular r:id="rId20"/>
      <p:bold r:id="rId21"/>
    </p:embeddedFont>
    <p:embeddedFont>
      <p:font typeface="Roboto Mono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22" Type="http://schemas.openxmlformats.org/officeDocument/2006/relationships/font" Target="fonts/RobotoMono-regular.fntdata"/><Relationship Id="rId21" Type="http://schemas.openxmlformats.org/officeDocument/2006/relationships/font" Target="fonts/Lexend-bold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regular.fntdata"/><Relationship Id="rId25" Type="http://schemas.openxmlformats.org/officeDocument/2006/relationships/font" Target="fonts/RobotoMono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exendLight-bold.fntdata"/><Relationship Id="rId12" Type="http://schemas.openxmlformats.org/officeDocument/2006/relationships/font" Target="fonts/LexendLight-regular.fntdata"/><Relationship Id="rId15" Type="http://schemas.openxmlformats.org/officeDocument/2006/relationships/font" Target="fonts/LexendMedium-bold.fntdata"/><Relationship Id="rId14" Type="http://schemas.openxmlformats.org/officeDocument/2006/relationships/font" Target="fonts/LexendMedium-regular.fntdata"/><Relationship Id="rId17" Type="http://schemas.openxmlformats.org/officeDocument/2006/relationships/font" Target="fonts/DMSansSemiBold-bold.fntdata"/><Relationship Id="rId16" Type="http://schemas.openxmlformats.org/officeDocument/2006/relationships/font" Target="fonts/DMSansSemiBold-regular.fntdata"/><Relationship Id="rId19" Type="http://schemas.openxmlformats.org/officeDocument/2006/relationships/font" Target="fonts/DMSansSemiBold-boldItalic.fntdata"/><Relationship Id="rId18" Type="http://schemas.openxmlformats.org/officeDocument/2006/relationships/font" Target="fonts/DMSans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55877da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655877da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55877da0e_0_1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55877da0e_0_1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f0a150a8e_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7f0a150a8e_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1add2c83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81add2c83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b0d2667b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9b0d2667b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b0d2667bd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9b0d2667bd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2606" y="832000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5866315" y="66973"/>
            <a:ext cx="2954947" cy="4587953"/>
            <a:chOff x="5866315" y="130139"/>
            <a:chExt cx="2954947" cy="4587953"/>
          </a:xfrm>
        </p:grpSpPr>
        <p:grpSp>
          <p:nvGrpSpPr>
            <p:cNvPr id="14" name="Google Shape;14;p2"/>
            <p:cNvGrpSpPr/>
            <p:nvPr/>
          </p:nvGrpSpPr>
          <p:grpSpPr>
            <a:xfrm rot="1800044">
              <a:off x="7145788" y="375652"/>
              <a:ext cx="1341270" cy="1340671"/>
              <a:chOff x="2441905" y="1248288"/>
              <a:chExt cx="1341300" cy="13407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2442055" y="1248288"/>
                <a:ext cx="1341000" cy="1340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-945">
                <a:off x="2567155" y="1373238"/>
                <a:ext cx="1090800" cy="10908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 rot="2400131">
              <a:off x="7078016" y="3672082"/>
              <a:ext cx="868477" cy="868477"/>
              <a:chOff x="5015268" y="2960846"/>
              <a:chExt cx="868500" cy="8685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5015268" y="2960846"/>
                <a:ext cx="868500" cy="868500"/>
              </a:xfrm>
              <a:prstGeom prst="roundRect">
                <a:avLst>
                  <a:gd fmla="val 14552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5133918" y="3105078"/>
                <a:ext cx="631200" cy="580035"/>
                <a:chOff x="5133582" y="3105408"/>
                <a:chExt cx="631200" cy="580035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 rot="-4902">
                  <a:off x="5133582" y="3105858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 rot="-4902">
                  <a:off x="5133582" y="3300756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 rot="-4902">
                  <a:off x="5133582" y="3492693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23" name="Google Shape;23;p2"/>
            <p:cNvGrpSpPr/>
            <p:nvPr/>
          </p:nvGrpSpPr>
          <p:grpSpPr>
            <a:xfrm rot="-600240">
              <a:off x="5979971" y="2008184"/>
              <a:ext cx="2727635" cy="1547250"/>
              <a:chOff x="6121180" y="1963945"/>
              <a:chExt cx="2727900" cy="1547400"/>
            </a:xfrm>
          </p:grpSpPr>
          <p:sp>
            <p:nvSpPr>
              <p:cNvPr id="24" name="Google Shape;24;p2"/>
              <p:cNvSpPr/>
              <p:nvPr/>
            </p:nvSpPr>
            <p:spPr>
              <a:xfrm rot="756">
                <a:off x="6121180" y="1964245"/>
                <a:ext cx="2727900" cy="1546800"/>
              </a:xfrm>
              <a:prstGeom prst="roundRect">
                <a:avLst>
                  <a:gd fmla="val 804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rot="5398209">
                <a:off x="7302225" y="2489024"/>
                <a:ext cx="575700" cy="497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 rot="-839923">
              <a:off x="6099076" y="520245"/>
              <a:ext cx="889199" cy="1584298"/>
              <a:chOff x="3614175" y="406175"/>
              <a:chExt cx="889200" cy="1584300"/>
            </a:xfrm>
          </p:grpSpPr>
          <p:sp>
            <p:nvSpPr>
              <p:cNvPr id="27" name="Google Shape;27;p2"/>
              <p:cNvSpPr/>
              <p:nvPr/>
            </p:nvSpPr>
            <p:spPr>
              <a:xfrm rot="4652">
                <a:off x="3615375" y="406774"/>
                <a:ext cx="886801" cy="1583102"/>
              </a:xfrm>
              <a:prstGeom prst="roundRect">
                <a:avLst>
                  <a:gd fmla="val 11359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4290">
                <a:off x="3698175" y="488088"/>
                <a:ext cx="721201" cy="1100701"/>
              </a:xfrm>
              <a:prstGeom prst="roundRect">
                <a:avLst>
                  <a:gd fmla="val 8619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5431">
                <a:off x="3682773" y="1655743"/>
                <a:ext cx="752005" cy="252558"/>
              </a:xfrm>
              <a:prstGeom prst="flowChartTermina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0" name="Google Shape;30;p2"/>
            <p:cNvSpPr/>
            <p:nvPr/>
          </p:nvSpPr>
          <p:spPr>
            <a:xfrm>
              <a:off x="6830386" y="186612"/>
              <a:ext cx="464700" cy="4023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742824" y="3481655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88974" y="1467844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2400046">
              <a:off x="6545745" y="3772294"/>
              <a:ext cx="428439" cy="42843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2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6" name="Google Shape;36;p2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" name="Google Shape;39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" name="Google Shape;82;p1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" name="Google Shape;83;p1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" name="Google Shape;90;p1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" name="Google Shape;98;p1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" name="Google Shape;105;p1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1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5" name="Google Shape;115;p1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" name="Google Shape;116;p1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" name="Google Shape;117;p1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" name="Google Shape;125;p2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" name="Google Shape;131;p2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" name="Google Shape;134;p2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" name="Google Shape;137;p2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2" name="Google Shape;142;p2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2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2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with Image">
  <p:cSld name="TITLE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4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146450" y="186951"/>
            <a:ext cx="4506900" cy="25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3" type="body"/>
          </p:nvPr>
        </p:nvSpPr>
        <p:spPr>
          <a:xfrm>
            <a:off x="5145950" y="230050"/>
            <a:ext cx="34209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66" name="Google Shape;166;p24"/>
          <p:cNvSpPr/>
          <p:nvPr>
            <p:ph idx="4" type="pic"/>
          </p:nvPr>
        </p:nvSpPr>
        <p:spPr>
          <a:xfrm>
            <a:off x="5256200" y="1554480"/>
            <a:ext cx="3200400" cy="451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1">
  <p:cSld name="TITLE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2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1" name="Google Shape;171;p2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5"/>
          <p:cNvSpPr txBox="1"/>
          <p:nvPr>
            <p:ph idx="3" type="body"/>
          </p:nvPr>
        </p:nvSpPr>
        <p:spPr>
          <a:xfrm>
            <a:off x="15713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4" type="body"/>
          </p:nvPr>
        </p:nvSpPr>
        <p:spPr>
          <a:xfrm>
            <a:off x="3280200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5" type="body"/>
          </p:nvPr>
        </p:nvSpPr>
        <p:spPr>
          <a:xfrm>
            <a:off x="640628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6" type="subTitle"/>
          </p:nvPr>
        </p:nvSpPr>
        <p:spPr>
          <a:xfrm>
            <a:off x="154113" y="3566150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7" type="subTitle"/>
          </p:nvPr>
        </p:nvSpPr>
        <p:spPr>
          <a:xfrm>
            <a:off x="3280200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8" type="subTitle"/>
          </p:nvPr>
        </p:nvSpPr>
        <p:spPr>
          <a:xfrm>
            <a:off x="6406288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2">
  <p:cSld name="TITLE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3" name="Google Shape;183;p2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4" name="Google Shape;184;p26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4" type="body"/>
          </p:nvPr>
        </p:nvSpPr>
        <p:spPr>
          <a:xfrm>
            <a:off x="411480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5" type="subTitle"/>
          </p:nvPr>
        </p:nvSpPr>
        <p:spPr>
          <a:xfrm>
            <a:off x="411480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88" name="Google Shape;188;p26"/>
          <p:cNvSpPr txBox="1"/>
          <p:nvPr>
            <p:ph idx="6" type="body"/>
          </p:nvPr>
        </p:nvSpPr>
        <p:spPr>
          <a:xfrm>
            <a:off x="649224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7" type="subTitle"/>
          </p:nvPr>
        </p:nvSpPr>
        <p:spPr>
          <a:xfrm>
            <a:off x="649224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8" type="body"/>
          </p:nvPr>
        </p:nvSpPr>
        <p:spPr>
          <a:xfrm>
            <a:off x="411480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9" type="subTitle"/>
          </p:nvPr>
        </p:nvSpPr>
        <p:spPr>
          <a:xfrm>
            <a:off x="411480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13" type="body"/>
          </p:nvPr>
        </p:nvSpPr>
        <p:spPr>
          <a:xfrm>
            <a:off x="649224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14" type="subTitle"/>
          </p:nvPr>
        </p:nvSpPr>
        <p:spPr>
          <a:xfrm>
            <a:off x="649224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">
  <p:cSld name="TITLE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2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8" name="Google Shape;198;p2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7086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">
  <p:cSld name="TITLE_1_1_1_1_1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28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5" name="Google Shape;205;p28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53660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3" type="body"/>
          </p:nvPr>
        </p:nvSpPr>
        <p:spPr>
          <a:xfrm>
            <a:off x="53660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TITLE_1_1_1_1_1_2_2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29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2" name="Google Shape;212;p2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Top">
  <p:cSld name="TITLE_1_1_1_1_1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30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7" name="Google Shape;217;p30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8" name="Google Shape;218;p30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" name="Google Shape;219;p30"/>
          <p:cNvSpPr txBox="1"/>
          <p:nvPr>
            <p:ph idx="3" type="body"/>
          </p:nvPr>
        </p:nvSpPr>
        <p:spPr>
          <a:xfrm>
            <a:off x="5028550" y="23005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">
  <p:cSld name="TITLE_1_1_1_1_1_2_1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5023625" y="657479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22" name="Google Shape;222;p31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5" name="Google Shape;225;p31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6" name="Google Shape;226;p31"/>
          <p:cNvSpPr txBox="1"/>
          <p:nvPr>
            <p:ph type="title"/>
          </p:nvPr>
        </p:nvSpPr>
        <p:spPr>
          <a:xfrm>
            <a:off x="146450" y="186948"/>
            <a:ext cx="4506900" cy="12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31"/>
          <p:cNvSpPr txBox="1"/>
          <p:nvPr>
            <p:ph idx="4" type="subTitle"/>
          </p:nvPr>
        </p:nvSpPr>
        <p:spPr>
          <a:xfrm>
            <a:off x="5023625" y="218925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5023625" y="2214467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subTitle"/>
          </p:nvPr>
        </p:nvSpPr>
        <p:spPr>
          <a:xfrm>
            <a:off x="5023625" y="1775913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30" name="Google Shape;230;p31"/>
          <p:cNvSpPr txBox="1"/>
          <p:nvPr>
            <p:ph idx="7" type="body"/>
          </p:nvPr>
        </p:nvSpPr>
        <p:spPr>
          <a:xfrm>
            <a:off x="5023625" y="3771454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1" name="Google Shape;231;p31"/>
          <p:cNvSpPr txBox="1"/>
          <p:nvPr>
            <p:ph idx="8" type="subTitle"/>
          </p:nvPr>
        </p:nvSpPr>
        <p:spPr>
          <a:xfrm>
            <a:off x="5023625" y="3332900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TITLE_1_1_1_1_1_2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32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6" name="Google Shape;236;p3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7" name="Google Shape;237;p32"/>
          <p:cNvSpPr txBox="1"/>
          <p:nvPr>
            <p:ph type="title"/>
          </p:nvPr>
        </p:nvSpPr>
        <p:spPr>
          <a:xfrm>
            <a:off x="146450" y="186949"/>
            <a:ext cx="45069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" name="Google Shape;238;p32"/>
          <p:cNvSpPr txBox="1"/>
          <p:nvPr>
            <p:ph idx="3" type="body"/>
          </p:nvPr>
        </p:nvSpPr>
        <p:spPr>
          <a:xfrm>
            <a:off x="14645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9" name="Google Shape;239;p32"/>
          <p:cNvSpPr txBox="1"/>
          <p:nvPr>
            <p:ph idx="4" type="subTitle"/>
          </p:nvPr>
        </p:nvSpPr>
        <p:spPr>
          <a:xfrm>
            <a:off x="14645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5" type="body"/>
          </p:nvPr>
        </p:nvSpPr>
        <p:spPr>
          <a:xfrm>
            <a:off x="14645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1" name="Google Shape;241;p32"/>
          <p:cNvSpPr txBox="1"/>
          <p:nvPr>
            <p:ph idx="6" type="subTitle"/>
          </p:nvPr>
        </p:nvSpPr>
        <p:spPr>
          <a:xfrm>
            <a:off x="14645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7" type="body"/>
          </p:nvPr>
        </p:nvSpPr>
        <p:spPr>
          <a:xfrm>
            <a:off x="387932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idx="8" type="subTitle"/>
          </p:nvPr>
        </p:nvSpPr>
        <p:spPr>
          <a:xfrm>
            <a:off x="387932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9" type="body"/>
          </p:nvPr>
        </p:nvSpPr>
        <p:spPr>
          <a:xfrm>
            <a:off x="387932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5" name="Google Shape;245;p32"/>
          <p:cNvSpPr txBox="1"/>
          <p:nvPr>
            <p:ph idx="13" type="subTitle"/>
          </p:nvPr>
        </p:nvSpPr>
        <p:spPr>
          <a:xfrm>
            <a:off x="387932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TITLE_1_1_1_1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33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1" name="Google Shape;251;p33"/>
          <p:cNvSpPr txBox="1"/>
          <p:nvPr>
            <p:ph idx="3" type="body"/>
          </p:nvPr>
        </p:nvSpPr>
        <p:spPr>
          <a:xfrm>
            <a:off x="53813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4" type="body"/>
          </p:nvPr>
        </p:nvSpPr>
        <p:spPr>
          <a:xfrm>
            <a:off x="3280200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5" type="body"/>
          </p:nvPr>
        </p:nvSpPr>
        <p:spPr>
          <a:xfrm>
            <a:off x="602528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4" name="Google Shape;254;p33"/>
          <p:cNvSpPr txBox="1"/>
          <p:nvPr>
            <p:ph idx="6" type="subTitle"/>
          </p:nvPr>
        </p:nvSpPr>
        <p:spPr>
          <a:xfrm>
            <a:off x="535113" y="216218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7" type="subTitle"/>
          </p:nvPr>
        </p:nvSpPr>
        <p:spPr>
          <a:xfrm>
            <a:off x="3280200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8" type="subTitle"/>
          </p:nvPr>
        </p:nvSpPr>
        <p:spPr>
          <a:xfrm>
            <a:off x="6025288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Blank">
  <p:cSld name="TITLE_1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4830625" y="579550"/>
            <a:ext cx="3188700" cy="6824700"/>
          </a:xfrm>
          <a:prstGeom prst="roundRect">
            <a:avLst>
              <a:gd fmla="val 16566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1" name="Google Shape;261;p3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2" name="Google Shape;262;p34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34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34"/>
          <p:cNvSpPr/>
          <p:nvPr/>
        </p:nvSpPr>
        <p:spPr>
          <a:xfrm>
            <a:off x="4625575" y="4726725"/>
            <a:ext cx="3598800" cy="4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65" name="Google Shape;265;p34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with Image">
  <p:cSld name="TITLE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9" name="Google Shape;269;p3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70" name="Google Shape;270;p35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p35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72" name="Google Shape;272;p3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35"/>
          <p:cNvSpPr/>
          <p:nvPr>
            <p:ph idx="4" type="pic"/>
          </p:nvPr>
        </p:nvSpPr>
        <p:spPr>
          <a:xfrm>
            <a:off x="4839625" y="589800"/>
            <a:ext cx="3169800" cy="68025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">
  <p:cSld name="TITLE_1_1_1_1_1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/>
          <p:nvPr>
            <p:ph idx="2" type="pic"/>
          </p:nvPr>
        </p:nvSpPr>
        <p:spPr>
          <a:xfrm>
            <a:off x="4506725" y="1592725"/>
            <a:ext cx="4389000" cy="2724900"/>
          </a:xfrm>
          <a:prstGeom prst="roundRect">
            <a:avLst>
              <a:gd fmla="val 7298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6"/>
          <p:cNvSpPr/>
          <p:nvPr>
            <p:ph idx="3" type="pic"/>
          </p:nvPr>
        </p:nvSpPr>
        <p:spPr>
          <a:xfrm>
            <a:off x="2058025" y="1592725"/>
            <a:ext cx="1947600" cy="2724900"/>
          </a:xfrm>
          <a:prstGeom prst="roundRect">
            <a:avLst>
              <a:gd fmla="val 800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36"/>
          <p:cNvSpPr/>
          <p:nvPr>
            <p:ph idx="4" type="pic"/>
          </p:nvPr>
        </p:nvSpPr>
        <p:spPr>
          <a:xfrm>
            <a:off x="244425" y="1592725"/>
            <a:ext cx="1312500" cy="27249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36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2047975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0" name="Google Shape;280;p36"/>
          <p:cNvSpPr txBox="1"/>
          <p:nvPr/>
        </p:nvSpPr>
        <p:spPr>
          <a:xfrm>
            <a:off x="450672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1" name="Google Shape;281;p3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3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4" name="Google Shape;284;p36"/>
          <p:cNvSpPr txBox="1"/>
          <p:nvPr>
            <p:ph idx="5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 - No Images">
  <p:cSld name="TITLE_1_1_1_1_1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87" name="Google Shape;287;p37"/>
          <p:cNvSpPr txBox="1"/>
          <p:nvPr/>
        </p:nvSpPr>
        <p:spPr>
          <a:xfrm>
            <a:off x="2047950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8" name="Google Shape;288;p37"/>
          <p:cNvSpPr txBox="1"/>
          <p:nvPr/>
        </p:nvSpPr>
        <p:spPr>
          <a:xfrm>
            <a:off x="450667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9" name="Google Shape;289;p3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2" name="Google Shape;292;p3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9800" y="108525"/>
            <a:ext cx="88068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exend Medium"/>
              <a:buNone/>
              <a:defRPr sz="7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9800" y="2829950"/>
            <a:ext cx="85206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nline.bhcc.edu/pluginfile.php/3819291/mod_resource/content/1/midterm_practice_01.pd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BHCC CSC 125-03 Python Programming</a:t>
            </a:r>
            <a:endParaRPr sz="5000"/>
          </a:p>
        </p:txBody>
      </p:sp>
      <p:sp>
        <p:nvSpPr>
          <p:cNvPr id="298" name="Google Shape;298;p38"/>
          <p:cNvSpPr txBox="1"/>
          <p:nvPr>
            <p:ph idx="1" type="subTitle"/>
          </p:nvPr>
        </p:nvSpPr>
        <p:spPr>
          <a:xfrm>
            <a:off x="152600" y="832000"/>
            <a:ext cx="27498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Week 8: For Loops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8"/>
          <p:cNvSpPr txBox="1"/>
          <p:nvPr>
            <p:ph idx="2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00" name="Google Shape;300;p38"/>
          <p:cNvSpPr txBox="1"/>
          <p:nvPr>
            <p:ph idx="3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19th, 2025</a:t>
            </a:r>
            <a:endParaRPr/>
          </a:p>
        </p:txBody>
      </p:sp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Today’s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9"/>
          <p:cNvSpPr txBox="1"/>
          <p:nvPr>
            <p:ph idx="3" type="body"/>
          </p:nvPr>
        </p:nvSpPr>
        <p:spPr>
          <a:xfrm>
            <a:off x="5028550" y="230050"/>
            <a:ext cx="3806400" cy="42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7 Review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Midterm Practice Preview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8 Intro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8 Code Lecture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3-4  Quiz</a:t>
            </a:r>
            <a:endParaRPr sz="2000"/>
          </a:p>
        </p:txBody>
      </p:sp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10" name="Google Shape;310;p39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19th,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0"/>
          <p:cNvSpPr txBox="1"/>
          <p:nvPr>
            <p:ph type="title"/>
          </p:nvPr>
        </p:nvSpPr>
        <p:spPr>
          <a:xfrm>
            <a:off x="146450" y="186950"/>
            <a:ext cx="86013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7 - Advance List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317" name="Google Shape;317;p40"/>
          <p:cNvSpPr txBox="1"/>
          <p:nvPr>
            <p:ph idx="3" type="body"/>
          </p:nvPr>
        </p:nvSpPr>
        <p:spPr>
          <a:xfrm>
            <a:off x="244425" y="897050"/>
            <a:ext cx="4239600" cy="3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Creating and Accessing Lists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Create with brackets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[1, 2, 3]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access with index starting at 0: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my_list[0]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Negative indices count from end: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my_list[-1]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is last item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len(my_list)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to count items, lists are mutable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List Slicing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[start:end]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extracts portion, end excluded: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my_list[1:4]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gets indices 1, 2, 3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[:3]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first three,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[3:]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from index 3 on,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[::-1]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reverses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my_list[:]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creates copy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Modifying Lists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.append(item)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adds to end,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.insert(i, item)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adds at position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.remove(value)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deletes first,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.pop()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removes last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.sort()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.reverse()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modify in place, return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0"/>
          <p:cNvSpPr txBox="1"/>
          <p:nvPr>
            <p:ph idx="3" type="body"/>
          </p:nvPr>
        </p:nvSpPr>
        <p:spPr>
          <a:xfrm>
            <a:off x="4770550" y="935700"/>
            <a:ext cx="4239600" cy="3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Methods: Modify vs Return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Modify in place (return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.append()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.sort()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.reverse()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.remove()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Return new value: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sorted()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len()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Don't assign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.sort()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result -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sorted()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instead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References vs Copies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list2 = list1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creates reference, both point to same list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Changes to either affect both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Copy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[:]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.copy()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for independence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Tuples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Immutable: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(1, 2, 3)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cannot change after creation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Use for fixed data: coordinates, colors, records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Unpack: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x, y = point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or swap: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a, b = b, a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0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20" name="Google Shape;320;p40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19th, 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/>
        </p:nvSpPr>
        <p:spPr>
          <a:xfrm>
            <a:off x="355850" y="845750"/>
            <a:ext cx="4088100" cy="3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Topics Tested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Variables, data types, type conversion, input/output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Strings: methods, slicing, f-strings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Operators: arithmetic, comparison, assignment, boolean, precedence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Conditionals: if/elif/else, logical operators, nested conditions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Lists/Tuples: creation, indexing, slicing, basic methods, mutability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For loops: syntax, range(), nested loops, iteration patterns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While loops: syntax, break/continue, input validation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Practice Problems on Moodle, and an additional practice covering the code writing problems will be posted next week.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u="sng">
                <a:solidFill>
                  <a:schemeClr val="hlink"/>
                </a:solidFill>
                <a:hlinkClick r:id="rId3"/>
              </a:rPr>
              <a:t>https://online.bhcc.edu/pluginfile.php/3819291/mod_resource/content/1/midterm_practice_01.pdf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26" name="Google Shape;326;p41"/>
          <p:cNvSpPr txBox="1"/>
          <p:nvPr>
            <p:ph type="title"/>
          </p:nvPr>
        </p:nvSpPr>
        <p:spPr>
          <a:xfrm>
            <a:off x="146450" y="186950"/>
            <a:ext cx="4917900" cy="7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 Overview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1"/>
          <p:cNvSpPr txBox="1"/>
          <p:nvPr/>
        </p:nvSpPr>
        <p:spPr>
          <a:xfrm>
            <a:off x="4572000" y="814850"/>
            <a:ext cx="4438200" cy="3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Coverage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Weeks 2-9: Variables through While Loops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Excludes: Week 1 intro, Week 7 advanced lists, Week 10 planning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Format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Mix of code writing, code reading, and debugging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Trace code execution and predict output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Fix errors in provided code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Write short programs combining multiple concepts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structure while be very similar to the quizzes with the addition of writing small programs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28" name="Google Shape;328;p4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41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30" name="Google Shape;330;p41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19th, 2025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46450" y="186950"/>
            <a:ext cx="8997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Loops: Real World Examples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2"/>
          <p:cNvSpPr txBox="1"/>
          <p:nvPr/>
        </p:nvSpPr>
        <p:spPr>
          <a:xfrm>
            <a:off x="4379050" y="822075"/>
            <a:ext cx="46311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Scenario: Fitbit Step Counter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Fitness tracker records your steps every minute (1,440 data points per day)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How does it add up all readings to get daily total?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How does it find your most active hour?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Scenario: Video Game Collision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Game has 50 enemies on screen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How does it check if player's bullet hit any enemy?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How does it update health for each enemy that got hit?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Scenario: Barcode Scanner at Checkout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Cashier scans 20 items in your cart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How does the register look up each item's price in the database?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How does it calculate your total and apply discounts?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37" name="Google Shape;337;p4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8" name="Google Shape;338;p42" title="wolverine_mem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150" y="907246"/>
            <a:ext cx="2799501" cy="349937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2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40" name="Google Shape;340;p42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19th, 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But What Does it Look Like in Python?</a:t>
            </a:r>
            <a:endParaRPr sz="3200"/>
          </a:p>
        </p:txBody>
      </p:sp>
      <p:sp>
        <p:nvSpPr>
          <p:cNvPr id="346" name="Google Shape;346;p43"/>
          <p:cNvSpPr txBox="1"/>
          <p:nvPr>
            <p:ph idx="3" type="body"/>
          </p:nvPr>
        </p:nvSpPr>
        <p:spPr>
          <a:xfrm>
            <a:off x="4653350" y="342900"/>
            <a:ext cx="4185300" cy="48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Barcode Scanner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item in cart: 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 = database.lookup(item.barcode)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total += price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item in cart: 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item.has_coupon: 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total -= item.discount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Video Game Collision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enemy in enemies: 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bullet.hits(enemy): 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enemy.health -= 10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enemy in enemies: 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enemy.health &lt;= 0:  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enemies.remove(enemy)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43"/>
          <p:cNvSpPr txBox="1"/>
          <p:nvPr/>
        </p:nvSpPr>
        <p:spPr>
          <a:xfrm>
            <a:off x="171350" y="1997025"/>
            <a:ext cx="4457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Fitbit Step Counter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reading in step_data: 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total_steps += reading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hour in range(24): 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steps[hour] &gt; max_steps: 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max_hour = hour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43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50" name="Google Shape;350;p43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19th, 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fessional Development #2">
  <a:themeElements>
    <a:clrScheme name="Simple Light">
      <a:dk1>
        <a:srgbClr val="000000"/>
      </a:dk1>
      <a:lt1>
        <a:srgbClr val="FCEFE5"/>
      </a:lt1>
      <a:dk2>
        <a:srgbClr val="A47FA7"/>
      </a:dk2>
      <a:lt2>
        <a:srgbClr val="2170F2"/>
      </a:lt2>
      <a:accent1>
        <a:srgbClr val="FFD966"/>
      </a:accent1>
      <a:accent2>
        <a:srgbClr val="CC0000"/>
      </a:accent2>
      <a:accent3>
        <a:srgbClr val="646464"/>
      </a:accent3>
      <a:accent4>
        <a:srgbClr val="FFFFFF"/>
      </a:accent4>
      <a:accent5>
        <a:srgbClr val="3D0B37"/>
      </a:accent5>
      <a:accent6>
        <a:srgbClr val="63264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