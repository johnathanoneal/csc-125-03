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Lexend Light"/>
      <p:regular r:id="rId12"/>
      <p:bold r:id="rId13"/>
    </p:embeddedFont>
    <p:embeddedFont>
      <p:font typeface="Lexend Medium"/>
      <p:regular r:id="rId14"/>
      <p:bold r:id="rId15"/>
    </p:embeddedFont>
    <p:embeddedFont>
      <p:font typeface="DM Sans SemiBold"/>
      <p:regular r:id="rId16"/>
      <p:bold r:id="rId17"/>
      <p:italic r:id="rId18"/>
      <p:boldItalic r:id="rId19"/>
    </p:embeddedFont>
    <p:embeddedFont>
      <p:font typeface="Lexend"/>
      <p:regular r:id="rId20"/>
      <p:bold r:id="rId21"/>
    </p:embeddedFont>
    <p:embeddedFont>
      <p:font typeface="Roboto Mono"/>
      <p:regular r:id="rId22"/>
      <p:bold r:id="rId23"/>
      <p:italic r:id="rId24"/>
      <p:boldItalic r:id="rId25"/>
    </p:embeddedFont>
    <p:embeddedFont>
      <p:font typeface="DM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xend-regular.fntdata"/><Relationship Id="rId22" Type="http://schemas.openxmlformats.org/officeDocument/2006/relationships/font" Target="fonts/RobotoMono-regular.fntdata"/><Relationship Id="rId21" Type="http://schemas.openxmlformats.org/officeDocument/2006/relationships/font" Target="fonts/Lexend-bold.fntdata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DMSans-regular.fntdata"/><Relationship Id="rId25" Type="http://schemas.openxmlformats.org/officeDocument/2006/relationships/font" Target="fonts/RobotoMono-boldItalic.fntdata"/><Relationship Id="rId28" Type="http://schemas.openxmlformats.org/officeDocument/2006/relationships/font" Target="fonts/DMSans-italic.fntdata"/><Relationship Id="rId27" Type="http://schemas.openxmlformats.org/officeDocument/2006/relationships/font" Target="fonts/DM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DM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LexendLight-bold.fntdata"/><Relationship Id="rId12" Type="http://schemas.openxmlformats.org/officeDocument/2006/relationships/font" Target="fonts/LexendLight-regular.fntdata"/><Relationship Id="rId15" Type="http://schemas.openxmlformats.org/officeDocument/2006/relationships/font" Target="fonts/LexendMedium-bold.fntdata"/><Relationship Id="rId14" Type="http://schemas.openxmlformats.org/officeDocument/2006/relationships/font" Target="fonts/LexendMedium-regular.fntdata"/><Relationship Id="rId17" Type="http://schemas.openxmlformats.org/officeDocument/2006/relationships/font" Target="fonts/DMSansSemiBold-bold.fntdata"/><Relationship Id="rId16" Type="http://schemas.openxmlformats.org/officeDocument/2006/relationships/font" Target="fonts/DMSansSemiBold-regular.fntdata"/><Relationship Id="rId19" Type="http://schemas.openxmlformats.org/officeDocument/2006/relationships/font" Target="fonts/DMSansSemiBold-boldItalic.fntdata"/><Relationship Id="rId18" Type="http://schemas.openxmlformats.org/officeDocument/2006/relationships/font" Target="fonts/DMSans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655877da0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655877da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655877da0e_0_1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655877da0e_0_1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7f0a150a8e_5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7f0a150a8e_5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81add2c83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81add2c83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9b0d2667b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9b0d2667b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9b0d2667bd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9b0d2667bd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116485" y="2712675"/>
            <a:ext cx="5311200" cy="18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52606" y="832000"/>
            <a:ext cx="2434500" cy="6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244425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5866315" y="66973"/>
            <a:ext cx="2954947" cy="4587953"/>
            <a:chOff x="5866315" y="130139"/>
            <a:chExt cx="2954947" cy="4587953"/>
          </a:xfrm>
        </p:grpSpPr>
        <p:grpSp>
          <p:nvGrpSpPr>
            <p:cNvPr id="14" name="Google Shape;14;p2"/>
            <p:cNvGrpSpPr/>
            <p:nvPr/>
          </p:nvGrpSpPr>
          <p:grpSpPr>
            <a:xfrm rot="1800044">
              <a:off x="7145788" y="375652"/>
              <a:ext cx="1341270" cy="1340671"/>
              <a:chOff x="2441905" y="1248288"/>
              <a:chExt cx="1341300" cy="1340700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2442055" y="1248288"/>
                <a:ext cx="1341000" cy="13407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 rot="-945">
                <a:off x="2567155" y="1373238"/>
                <a:ext cx="1090800" cy="1090800"/>
              </a:xfrm>
              <a:prstGeom prst="flowChartConnec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7" name="Google Shape;17;p2"/>
            <p:cNvGrpSpPr/>
            <p:nvPr/>
          </p:nvGrpSpPr>
          <p:grpSpPr>
            <a:xfrm rot="2400131">
              <a:off x="7078016" y="3672082"/>
              <a:ext cx="868477" cy="868477"/>
              <a:chOff x="5015268" y="2960846"/>
              <a:chExt cx="868500" cy="868500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5015268" y="2960846"/>
                <a:ext cx="868500" cy="868500"/>
              </a:xfrm>
              <a:prstGeom prst="roundRect">
                <a:avLst>
                  <a:gd fmla="val 14552" name="adj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grpSp>
            <p:nvGrpSpPr>
              <p:cNvPr id="19" name="Google Shape;19;p2"/>
              <p:cNvGrpSpPr/>
              <p:nvPr/>
            </p:nvGrpSpPr>
            <p:grpSpPr>
              <a:xfrm>
                <a:off x="5133918" y="3105078"/>
                <a:ext cx="631200" cy="580035"/>
                <a:chOff x="5133582" y="3105408"/>
                <a:chExt cx="631200" cy="580035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 rot="-4902">
                  <a:off x="5133582" y="3105858"/>
                  <a:ext cx="631201" cy="192300"/>
                </a:xfrm>
                <a:prstGeom prst="flowChartConnector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 rot="-4902">
                  <a:off x="5133582" y="3300756"/>
                  <a:ext cx="631201" cy="192300"/>
                </a:xfrm>
                <a:prstGeom prst="flowChartConnector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 rot="-4902">
                  <a:off x="5133582" y="3492693"/>
                  <a:ext cx="631201" cy="192300"/>
                </a:xfrm>
                <a:prstGeom prst="flowChartConnector">
                  <a:avLst/>
                </a:prstGeom>
                <a:noFill/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dk1"/>
                    </a:solidFill>
                  </a:endParaRPr>
                </a:p>
              </p:txBody>
            </p:sp>
          </p:grpSp>
        </p:grpSp>
        <p:grpSp>
          <p:nvGrpSpPr>
            <p:cNvPr id="23" name="Google Shape;23;p2"/>
            <p:cNvGrpSpPr/>
            <p:nvPr/>
          </p:nvGrpSpPr>
          <p:grpSpPr>
            <a:xfrm rot="-600240">
              <a:off x="5979971" y="2008184"/>
              <a:ext cx="2727635" cy="1547250"/>
              <a:chOff x="6121180" y="1963945"/>
              <a:chExt cx="2727900" cy="1547400"/>
            </a:xfrm>
          </p:grpSpPr>
          <p:sp>
            <p:nvSpPr>
              <p:cNvPr id="24" name="Google Shape;24;p2"/>
              <p:cNvSpPr/>
              <p:nvPr/>
            </p:nvSpPr>
            <p:spPr>
              <a:xfrm rot="756">
                <a:off x="6121180" y="1964245"/>
                <a:ext cx="2727900" cy="1546800"/>
              </a:xfrm>
              <a:prstGeom prst="roundRect">
                <a:avLst>
                  <a:gd fmla="val 8047" name="adj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 rot="5398209">
                <a:off x="7302225" y="2489024"/>
                <a:ext cx="575700" cy="497400"/>
              </a:xfrm>
              <a:prstGeom prst="triangle">
                <a:avLst>
                  <a:gd fmla="val 50000" name="adj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26" name="Google Shape;26;p2"/>
            <p:cNvGrpSpPr/>
            <p:nvPr/>
          </p:nvGrpSpPr>
          <p:grpSpPr>
            <a:xfrm rot="-839923">
              <a:off x="6099076" y="520245"/>
              <a:ext cx="889199" cy="1584298"/>
              <a:chOff x="3614175" y="406175"/>
              <a:chExt cx="889200" cy="1584300"/>
            </a:xfrm>
          </p:grpSpPr>
          <p:sp>
            <p:nvSpPr>
              <p:cNvPr id="27" name="Google Shape;27;p2"/>
              <p:cNvSpPr/>
              <p:nvPr/>
            </p:nvSpPr>
            <p:spPr>
              <a:xfrm rot="4652">
                <a:off x="3615375" y="406774"/>
                <a:ext cx="886801" cy="1583102"/>
              </a:xfrm>
              <a:prstGeom prst="roundRect">
                <a:avLst>
                  <a:gd fmla="val 11359" name="adj"/>
                </a:avLst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 rot="4290">
                <a:off x="3698175" y="488088"/>
                <a:ext cx="721201" cy="1100701"/>
              </a:xfrm>
              <a:prstGeom prst="roundRect">
                <a:avLst>
                  <a:gd fmla="val 8619" name="adj"/>
                </a:avLst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 rot="5431">
                <a:off x="3682773" y="1655743"/>
                <a:ext cx="752005" cy="252558"/>
              </a:xfrm>
              <a:prstGeom prst="flowChartTerminator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30" name="Google Shape;30;p2"/>
            <p:cNvSpPr/>
            <p:nvPr/>
          </p:nvSpPr>
          <p:spPr>
            <a:xfrm>
              <a:off x="6830386" y="186612"/>
              <a:ext cx="464700" cy="402300"/>
            </a:xfrm>
            <a:prstGeom prst="triangle">
              <a:avLst>
                <a:gd fmla="val 5000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742824" y="3481655"/>
              <a:ext cx="325200" cy="3252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288974" y="1467844"/>
              <a:ext cx="325200" cy="325200"/>
            </a:xfrm>
            <a:prstGeom prst="ellipse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 rot="2400046">
              <a:off x="6545745" y="3772294"/>
              <a:ext cx="428439" cy="428439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4" name="Google Shape;34;p2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2"/>
          <p:cNvSpPr txBox="1"/>
          <p:nvPr>
            <p:ph idx="2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36" name="Google Shape;36;p2"/>
          <p:cNvSpPr txBox="1"/>
          <p:nvPr>
            <p:ph idx="3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9" name="Google Shape;39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" name="Google Shape;82;p1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" name="Google Shape;83;p1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" name="Google Shape;84;p1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" name="Google Shape;85;p1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" name="Google Shape;86;p1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1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" name="Google Shape;90;p1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6" name="Google Shape;96;p1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8" name="Google Shape;98;p1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2" name="Google Shape;102;p1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3" name="Google Shape;103;p17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5" name="Google Shape;105;p17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6" name="Google Shape;106;p17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7" name="Google Shape;107;p17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1" name="Google Shape;111;p1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2" name="Google Shape;112;p1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5" name="Google Shape;115;p1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6" name="Google Shape;116;p1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7" name="Google Shape;117;p1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8" name="Google Shape;118;p1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1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5" name="Google Shape;125;p2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" name="Google Shape;130;p2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1" name="Google Shape;131;p2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4" name="Google Shape;134;p2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2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2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7" name="Google Shape;137;p2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2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1" name="Google Shape;141;p2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2" name="Google Shape;142;p2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3" name="Google Shape;143;p2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2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2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2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2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2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" name="Google Shape;156;p2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2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58" name="Google Shape;158;p2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 with Image">
  <p:cSld name="TITLE_1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60;p24"/>
          <p:cNvCxnSpPr/>
          <p:nvPr/>
        </p:nvCxnSpPr>
        <p:spPr>
          <a:xfrm>
            <a:off x="244425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" name="Google Shape;161;p24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4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63" name="Google Shape;163;p24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64" name="Google Shape;164;p24"/>
          <p:cNvSpPr txBox="1"/>
          <p:nvPr>
            <p:ph type="title"/>
          </p:nvPr>
        </p:nvSpPr>
        <p:spPr>
          <a:xfrm>
            <a:off x="146450" y="186951"/>
            <a:ext cx="4506900" cy="25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24"/>
          <p:cNvSpPr txBox="1"/>
          <p:nvPr>
            <p:ph idx="3" type="body"/>
          </p:nvPr>
        </p:nvSpPr>
        <p:spPr>
          <a:xfrm>
            <a:off x="5145950" y="230050"/>
            <a:ext cx="3420900" cy="17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66" name="Google Shape;166;p24"/>
          <p:cNvSpPr/>
          <p:nvPr>
            <p:ph idx="4" type="pic"/>
          </p:nvPr>
        </p:nvSpPr>
        <p:spPr>
          <a:xfrm>
            <a:off x="5256200" y="1554480"/>
            <a:ext cx="3200400" cy="4517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1">
  <p:cSld name="TITLE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8" name="Google Shape;168;p25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25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1" name="Google Shape;171;p25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72" name="Google Shape;172;p25"/>
          <p:cNvSpPr txBox="1"/>
          <p:nvPr>
            <p:ph type="title"/>
          </p:nvPr>
        </p:nvSpPr>
        <p:spPr>
          <a:xfrm>
            <a:off x="146450" y="182880"/>
            <a:ext cx="45069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3" name="Google Shape;173;p25"/>
          <p:cNvSpPr txBox="1"/>
          <p:nvPr>
            <p:ph idx="3" type="body"/>
          </p:nvPr>
        </p:nvSpPr>
        <p:spPr>
          <a:xfrm>
            <a:off x="157138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74" name="Google Shape;174;p25"/>
          <p:cNvSpPr txBox="1"/>
          <p:nvPr>
            <p:ph idx="4" type="body"/>
          </p:nvPr>
        </p:nvSpPr>
        <p:spPr>
          <a:xfrm>
            <a:off x="3280200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75" name="Google Shape;175;p25"/>
          <p:cNvSpPr txBox="1"/>
          <p:nvPr>
            <p:ph idx="5" type="body"/>
          </p:nvPr>
        </p:nvSpPr>
        <p:spPr>
          <a:xfrm>
            <a:off x="6406288" y="3840480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76" name="Google Shape;176;p25"/>
          <p:cNvSpPr txBox="1"/>
          <p:nvPr>
            <p:ph idx="6" type="subTitle"/>
          </p:nvPr>
        </p:nvSpPr>
        <p:spPr>
          <a:xfrm>
            <a:off x="154113" y="3566150"/>
            <a:ext cx="2586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77" name="Google Shape;177;p25"/>
          <p:cNvSpPr txBox="1"/>
          <p:nvPr>
            <p:ph idx="7" type="subTitle"/>
          </p:nvPr>
        </p:nvSpPr>
        <p:spPr>
          <a:xfrm>
            <a:off x="3280200" y="3566160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78" name="Google Shape;178;p25"/>
          <p:cNvSpPr txBox="1"/>
          <p:nvPr>
            <p:ph idx="8" type="subTitle"/>
          </p:nvPr>
        </p:nvSpPr>
        <p:spPr>
          <a:xfrm>
            <a:off x="6406288" y="3566160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2">
  <p:cSld name="TITLE_1_1_1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26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26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26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83" name="Google Shape;183;p26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84" name="Google Shape;184;p26"/>
          <p:cNvSpPr txBox="1"/>
          <p:nvPr>
            <p:ph type="title"/>
          </p:nvPr>
        </p:nvSpPr>
        <p:spPr>
          <a:xfrm>
            <a:off x="708600" y="1371600"/>
            <a:ext cx="34416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5" name="Google Shape;185;p26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86" name="Google Shape;186;p26"/>
          <p:cNvSpPr txBox="1"/>
          <p:nvPr>
            <p:ph idx="4" type="body"/>
          </p:nvPr>
        </p:nvSpPr>
        <p:spPr>
          <a:xfrm>
            <a:off x="4114800" y="1538254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87" name="Google Shape;187;p26"/>
          <p:cNvSpPr txBox="1"/>
          <p:nvPr>
            <p:ph idx="5" type="subTitle"/>
          </p:nvPr>
        </p:nvSpPr>
        <p:spPr>
          <a:xfrm>
            <a:off x="4114800" y="1263925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88" name="Google Shape;188;p26"/>
          <p:cNvSpPr txBox="1"/>
          <p:nvPr>
            <p:ph idx="6" type="body"/>
          </p:nvPr>
        </p:nvSpPr>
        <p:spPr>
          <a:xfrm>
            <a:off x="6492240" y="1538254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89" name="Google Shape;189;p26"/>
          <p:cNvSpPr txBox="1"/>
          <p:nvPr>
            <p:ph idx="7" type="subTitle"/>
          </p:nvPr>
        </p:nvSpPr>
        <p:spPr>
          <a:xfrm>
            <a:off x="6492240" y="1263925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0" name="Google Shape;190;p26"/>
          <p:cNvSpPr txBox="1"/>
          <p:nvPr>
            <p:ph idx="8" type="body"/>
          </p:nvPr>
        </p:nvSpPr>
        <p:spPr>
          <a:xfrm>
            <a:off x="4114800" y="3763029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91" name="Google Shape;191;p26"/>
          <p:cNvSpPr txBox="1"/>
          <p:nvPr>
            <p:ph idx="9" type="subTitle"/>
          </p:nvPr>
        </p:nvSpPr>
        <p:spPr>
          <a:xfrm>
            <a:off x="4114800" y="3488700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92" name="Google Shape;192;p26"/>
          <p:cNvSpPr txBox="1"/>
          <p:nvPr>
            <p:ph idx="13" type="body"/>
          </p:nvPr>
        </p:nvSpPr>
        <p:spPr>
          <a:xfrm>
            <a:off x="6492240" y="3763029"/>
            <a:ext cx="22413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193" name="Google Shape;193;p26"/>
          <p:cNvSpPr txBox="1"/>
          <p:nvPr>
            <p:ph idx="14" type="subTitle"/>
          </p:nvPr>
        </p:nvSpPr>
        <p:spPr>
          <a:xfrm>
            <a:off x="6492240" y="3488700"/>
            <a:ext cx="22437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Left ">
  <p:cSld name="TITLE_1_1_1_1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5" name="Google Shape;195;p27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" name="Google Shape;196;p27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27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98" name="Google Shape;198;p27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199" name="Google Shape;199;p27"/>
          <p:cNvSpPr txBox="1"/>
          <p:nvPr>
            <p:ph type="title"/>
          </p:nvPr>
        </p:nvSpPr>
        <p:spPr>
          <a:xfrm>
            <a:off x="708600" y="1371600"/>
            <a:ext cx="32943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0" name="Google Shape;200;p27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Right">
  <p:cSld name="TITLE_1_1_1_1_1_2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2" name="Google Shape;202;p28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8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8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05" name="Google Shape;205;p28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06" name="Google Shape;206;p28"/>
          <p:cNvSpPr txBox="1"/>
          <p:nvPr>
            <p:ph type="title"/>
          </p:nvPr>
        </p:nvSpPr>
        <p:spPr>
          <a:xfrm>
            <a:off x="5366000" y="1371600"/>
            <a:ext cx="32943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7" name="Google Shape;207;p28"/>
          <p:cNvSpPr txBox="1"/>
          <p:nvPr>
            <p:ph idx="3" type="body"/>
          </p:nvPr>
        </p:nvSpPr>
        <p:spPr>
          <a:xfrm>
            <a:off x="53660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TITLE_1_1_1_1_1_2_2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9" name="Google Shape;209;p29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" name="Google Shape;210;p29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9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12" name="Google Shape;212;p29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Top">
  <p:cSld name="TITLE_1_1_1_1_1_2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4" name="Google Shape;214;p30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30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" name="Google Shape;216;p30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17" name="Google Shape;217;p30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18" name="Google Shape;218;p30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9" name="Google Shape;219;p30"/>
          <p:cNvSpPr txBox="1"/>
          <p:nvPr>
            <p:ph idx="3" type="body"/>
          </p:nvPr>
        </p:nvSpPr>
        <p:spPr>
          <a:xfrm>
            <a:off x="5028550" y="230050"/>
            <a:ext cx="3538200" cy="17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AQ">
  <p:cSld name="TITLE_1_1_1_1_1_2_1_2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1"/>
          <p:cNvSpPr txBox="1"/>
          <p:nvPr>
            <p:ph idx="1" type="body"/>
          </p:nvPr>
        </p:nvSpPr>
        <p:spPr>
          <a:xfrm>
            <a:off x="5023625" y="657479"/>
            <a:ext cx="3538200" cy="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cxnSp>
        <p:nvCxnSpPr>
          <p:cNvPr id="222" name="Google Shape;222;p31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" name="Google Shape;223;p31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31"/>
          <p:cNvSpPr txBox="1"/>
          <p:nvPr>
            <p:ph idx="2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5" name="Google Shape;225;p31"/>
          <p:cNvSpPr txBox="1"/>
          <p:nvPr>
            <p:ph idx="3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26" name="Google Shape;226;p31"/>
          <p:cNvSpPr txBox="1"/>
          <p:nvPr>
            <p:ph type="title"/>
          </p:nvPr>
        </p:nvSpPr>
        <p:spPr>
          <a:xfrm>
            <a:off x="146450" y="186948"/>
            <a:ext cx="4506900" cy="12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7" name="Google Shape;227;p31"/>
          <p:cNvSpPr txBox="1"/>
          <p:nvPr>
            <p:ph idx="4" type="subTitle"/>
          </p:nvPr>
        </p:nvSpPr>
        <p:spPr>
          <a:xfrm>
            <a:off x="5023625" y="218925"/>
            <a:ext cx="35382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28" name="Google Shape;228;p31"/>
          <p:cNvSpPr txBox="1"/>
          <p:nvPr>
            <p:ph idx="5" type="body"/>
          </p:nvPr>
        </p:nvSpPr>
        <p:spPr>
          <a:xfrm>
            <a:off x="5023625" y="2214467"/>
            <a:ext cx="3538200" cy="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29" name="Google Shape;229;p31"/>
          <p:cNvSpPr txBox="1"/>
          <p:nvPr>
            <p:ph idx="6" type="subTitle"/>
          </p:nvPr>
        </p:nvSpPr>
        <p:spPr>
          <a:xfrm>
            <a:off x="5023625" y="1775913"/>
            <a:ext cx="35382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30" name="Google Shape;230;p31"/>
          <p:cNvSpPr txBox="1"/>
          <p:nvPr>
            <p:ph idx="7" type="body"/>
          </p:nvPr>
        </p:nvSpPr>
        <p:spPr>
          <a:xfrm>
            <a:off x="5023625" y="3771454"/>
            <a:ext cx="3538200" cy="8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31" name="Google Shape;231;p31"/>
          <p:cNvSpPr txBox="1"/>
          <p:nvPr>
            <p:ph idx="8" type="subTitle"/>
          </p:nvPr>
        </p:nvSpPr>
        <p:spPr>
          <a:xfrm>
            <a:off x="5023625" y="3332900"/>
            <a:ext cx="35382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">
  <p:cSld name="TITLE_1_1_1_1_1_2_1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3" name="Google Shape;233;p32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" name="Google Shape;234;p32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32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6" name="Google Shape;236;p32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37" name="Google Shape;237;p32"/>
          <p:cNvSpPr txBox="1"/>
          <p:nvPr>
            <p:ph type="title"/>
          </p:nvPr>
        </p:nvSpPr>
        <p:spPr>
          <a:xfrm>
            <a:off x="146450" y="186949"/>
            <a:ext cx="45069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Lexend"/>
              <a:buNone/>
              <a:defRPr sz="4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8" name="Google Shape;238;p32"/>
          <p:cNvSpPr txBox="1"/>
          <p:nvPr>
            <p:ph idx="3" type="body"/>
          </p:nvPr>
        </p:nvSpPr>
        <p:spPr>
          <a:xfrm>
            <a:off x="146450" y="2054029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39" name="Google Shape;239;p32"/>
          <p:cNvSpPr txBox="1"/>
          <p:nvPr>
            <p:ph idx="4" type="subTitle"/>
          </p:nvPr>
        </p:nvSpPr>
        <p:spPr>
          <a:xfrm>
            <a:off x="146450" y="1615475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40" name="Google Shape;240;p32"/>
          <p:cNvSpPr txBox="1"/>
          <p:nvPr>
            <p:ph idx="5" type="body"/>
          </p:nvPr>
        </p:nvSpPr>
        <p:spPr>
          <a:xfrm>
            <a:off x="146450" y="3418408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41" name="Google Shape;241;p32"/>
          <p:cNvSpPr txBox="1"/>
          <p:nvPr>
            <p:ph idx="6" type="subTitle"/>
          </p:nvPr>
        </p:nvSpPr>
        <p:spPr>
          <a:xfrm>
            <a:off x="146450" y="2979854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42" name="Google Shape;242;p32"/>
          <p:cNvSpPr txBox="1"/>
          <p:nvPr>
            <p:ph idx="7" type="body"/>
          </p:nvPr>
        </p:nvSpPr>
        <p:spPr>
          <a:xfrm>
            <a:off x="3879320" y="2054029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43" name="Google Shape;243;p32"/>
          <p:cNvSpPr txBox="1"/>
          <p:nvPr>
            <p:ph idx="8" type="subTitle"/>
          </p:nvPr>
        </p:nvSpPr>
        <p:spPr>
          <a:xfrm>
            <a:off x="3879320" y="1615475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44" name="Google Shape;244;p32"/>
          <p:cNvSpPr txBox="1"/>
          <p:nvPr>
            <p:ph idx="9" type="body"/>
          </p:nvPr>
        </p:nvSpPr>
        <p:spPr>
          <a:xfrm>
            <a:off x="3879320" y="3418408"/>
            <a:ext cx="34200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45" name="Google Shape;245;p32"/>
          <p:cNvSpPr txBox="1"/>
          <p:nvPr>
            <p:ph idx="13" type="subTitle"/>
          </p:nvPr>
        </p:nvSpPr>
        <p:spPr>
          <a:xfrm>
            <a:off x="3879320" y="2979854"/>
            <a:ext cx="342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Lexend Light"/>
              <a:buNone/>
              <a:defRPr sz="16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TITLE_1_1_1_1_1_1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7" name="Google Shape;247;p33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8" name="Google Shape;248;p33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33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50" name="Google Shape;250;p33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51" name="Google Shape;251;p33"/>
          <p:cNvSpPr txBox="1"/>
          <p:nvPr>
            <p:ph idx="3" type="body"/>
          </p:nvPr>
        </p:nvSpPr>
        <p:spPr>
          <a:xfrm>
            <a:off x="538138" y="490548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52" name="Google Shape;252;p33"/>
          <p:cNvSpPr txBox="1"/>
          <p:nvPr>
            <p:ph idx="4" type="body"/>
          </p:nvPr>
        </p:nvSpPr>
        <p:spPr>
          <a:xfrm>
            <a:off x="3280200" y="490548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53" name="Google Shape;253;p33"/>
          <p:cNvSpPr txBox="1"/>
          <p:nvPr>
            <p:ph idx="5" type="body"/>
          </p:nvPr>
        </p:nvSpPr>
        <p:spPr>
          <a:xfrm>
            <a:off x="6025288" y="490548"/>
            <a:ext cx="2583600" cy="7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54" name="Google Shape;254;p33"/>
          <p:cNvSpPr txBox="1"/>
          <p:nvPr>
            <p:ph idx="6" type="subTitle"/>
          </p:nvPr>
        </p:nvSpPr>
        <p:spPr>
          <a:xfrm>
            <a:off x="535113" y="216218"/>
            <a:ext cx="2586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5" name="Google Shape;255;p33"/>
          <p:cNvSpPr txBox="1"/>
          <p:nvPr>
            <p:ph idx="7" type="subTitle"/>
          </p:nvPr>
        </p:nvSpPr>
        <p:spPr>
          <a:xfrm>
            <a:off x="3280200" y="216228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6" name="Google Shape;256;p33"/>
          <p:cNvSpPr txBox="1"/>
          <p:nvPr>
            <p:ph idx="8" type="subTitle"/>
          </p:nvPr>
        </p:nvSpPr>
        <p:spPr>
          <a:xfrm>
            <a:off x="6025288" y="216228"/>
            <a:ext cx="25836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 sz="14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Phone Blank">
  <p:cSld name="TITLE_1_1_1_1_1_1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4"/>
          <p:cNvSpPr/>
          <p:nvPr/>
        </p:nvSpPr>
        <p:spPr>
          <a:xfrm>
            <a:off x="4830625" y="579550"/>
            <a:ext cx="3188700" cy="6824700"/>
          </a:xfrm>
          <a:prstGeom prst="roundRect">
            <a:avLst>
              <a:gd fmla="val 16566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9" name="Google Shape;259;p34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34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1" name="Google Shape;261;p34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2" name="Google Shape;262;p34"/>
          <p:cNvSpPr txBox="1"/>
          <p:nvPr>
            <p:ph type="title"/>
          </p:nvPr>
        </p:nvSpPr>
        <p:spPr>
          <a:xfrm>
            <a:off x="708600" y="1371600"/>
            <a:ext cx="34416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3" name="Google Shape;263;p34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sp>
        <p:nvSpPr>
          <p:cNvPr id="264" name="Google Shape;264;p34"/>
          <p:cNvSpPr/>
          <p:nvPr/>
        </p:nvSpPr>
        <p:spPr>
          <a:xfrm>
            <a:off x="4625575" y="4726725"/>
            <a:ext cx="3598800" cy="41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265" name="Google Shape;265;p34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Phone with Image">
  <p:cSld name="TITLE_1_1_1_1_1_1_1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5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8" name="Google Shape;268;p35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69" name="Google Shape;269;p35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70" name="Google Shape;270;p35"/>
          <p:cNvSpPr txBox="1"/>
          <p:nvPr>
            <p:ph type="title"/>
          </p:nvPr>
        </p:nvSpPr>
        <p:spPr>
          <a:xfrm>
            <a:off x="708600" y="1371600"/>
            <a:ext cx="3441600" cy="9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exend"/>
              <a:buNone/>
              <a:defRPr sz="30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1" name="Google Shape;271;p35"/>
          <p:cNvSpPr txBox="1"/>
          <p:nvPr>
            <p:ph idx="3" type="body"/>
          </p:nvPr>
        </p:nvSpPr>
        <p:spPr>
          <a:xfrm>
            <a:off x="708600" y="2414025"/>
            <a:ext cx="3294300" cy="113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■"/>
              <a:defRPr/>
            </a:lvl9pPr>
          </a:lstStyle>
          <a:p/>
        </p:txBody>
      </p:sp>
      <p:cxnSp>
        <p:nvCxnSpPr>
          <p:cNvPr id="272" name="Google Shape;272;p35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" name="Google Shape;273;p35"/>
          <p:cNvSpPr/>
          <p:nvPr>
            <p:ph idx="4" type="pic"/>
          </p:nvPr>
        </p:nvSpPr>
        <p:spPr>
          <a:xfrm>
            <a:off x="4839625" y="589800"/>
            <a:ext cx="3169800" cy="6802500"/>
          </a:xfrm>
          <a:prstGeom prst="roundRect">
            <a:avLst>
              <a:gd fmla="val 1657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 Library">
  <p:cSld name="TITLE_1_1_1_1_1_1_1_1_1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6"/>
          <p:cNvSpPr/>
          <p:nvPr>
            <p:ph idx="2" type="pic"/>
          </p:nvPr>
        </p:nvSpPr>
        <p:spPr>
          <a:xfrm>
            <a:off x="4506725" y="1592725"/>
            <a:ext cx="4389000" cy="2724900"/>
          </a:xfrm>
          <a:prstGeom prst="roundRect">
            <a:avLst>
              <a:gd fmla="val 7298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36"/>
          <p:cNvSpPr/>
          <p:nvPr>
            <p:ph idx="3" type="pic"/>
          </p:nvPr>
        </p:nvSpPr>
        <p:spPr>
          <a:xfrm>
            <a:off x="2058025" y="1592725"/>
            <a:ext cx="1947600" cy="2724900"/>
          </a:xfrm>
          <a:prstGeom prst="roundRect">
            <a:avLst>
              <a:gd fmla="val 800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36"/>
          <p:cNvSpPr/>
          <p:nvPr>
            <p:ph idx="4" type="pic"/>
          </p:nvPr>
        </p:nvSpPr>
        <p:spPr>
          <a:xfrm>
            <a:off x="244425" y="1592725"/>
            <a:ext cx="1312500" cy="2724900"/>
          </a:xfrm>
          <a:prstGeom prst="roundRect">
            <a:avLst>
              <a:gd fmla="val 16574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36"/>
          <p:cNvSpPr txBox="1"/>
          <p:nvPr/>
        </p:nvSpPr>
        <p:spPr>
          <a:xfrm>
            <a:off x="244424" y="1093100"/>
            <a:ext cx="13125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Phone</a:t>
            </a:r>
            <a:endParaRPr/>
          </a:p>
        </p:txBody>
      </p:sp>
      <p:sp>
        <p:nvSpPr>
          <p:cNvPr id="279" name="Google Shape;279;p36"/>
          <p:cNvSpPr txBox="1"/>
          <p:nvPr/>
        </p:nvSpPr>
        <p:spPr>
          <a:xfrm>
            <a:off x="2047975" y="1093100"/>
            <a:ext cx="1967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Tablet</a:t>
            </a:r>
            <a:endParaRPr/>
          </a:p>
        </p:txBody>
      </p:sp>
      <p:sp>
        <p:nvSpPr>
          <p:cNvPr id="280" name="Google Shape;280;p36"/>
          <p:cNvSpPr txBox="1"/>
          <p:nvPr/>
        </p:nvSpPr>
        <p:spPr>
          <a:xfrm>
            <a:off x="4506725" y="1093100"/>
            <a:ext cx="4410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Desktop</a:t>
            </a:r>
            <a:endParaRPr/>
          </a:p>
        </p:txBody>
      </p:sp>
      <p:cxnSp>
        <p:nvCxnSpPr>
          <p:cNvPr id="281" name="Google Shape;281;p36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2" name="Google Shape;282;p36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3" name="Google Shape;283;p36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84" name="Google Shape;284;p36"/>
          <p:cNvSpPr txBox="1"/>
          <p:nvPr>
            <p:ph idx="5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reen Library - No Images">
  <p:cSld name="TITLE_1_1_1_1_1_1_1_1_1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7"/>
          <p:cNvSpPr txBox="1"/>
          <p:nvPr/>
        </p:nvSpPr>
        <p:spPr>
          <a:xfrm>
            <a:off x="244424" y="1093100"/>
            <a:ext cx="13125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Phone</a:t>
            </a:r>
            <a:endParaRPr/>
          </a:p>
        </p:txBody>
      </p:sp>
      <p:sp>
        <p:nvSpPr>
          <p:cNvPr id="287" name="Google Shape;287;p37"/>
          <p:cNvSpPr txBox="1"/>
          <p:nvPr/>
        </p:nvSpPr>
        <p:spPr>
          <a:xfrm>
            <a:off x="2047950" y="1093100"/>
            <a:ext cx="1967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Tablet</a:t>
            </a:r>
            <a:endParaRPr/>
          </a:p>
        </p:txBody>
      </p:sp>
      <p:sp>
        <p:nvSpPr>
          <p:cNvPr id="288" name="Google Shape;288;p37"/>
          <p:cNvSpPr txBox="1"/>
          <p:nvPr/>
        </p:nvSpPr>
        <p:spPr>
          <a:xfrm>
            <a:off x="4506675" y="1093100"/>
            <a:ext cx="44100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Desktop</a:t>
            </a:r>
            <a:endParaRPr/>
          </a:p>
        </p:txBody>
      </p:sp>
      <p:cxnSp>
        <p:nvCxnSpPr>
          <p:cNvPr id="289" name="Google Shape;289;p37"/>
          <p:cNvCxnSpPr/>
          <p:nvPr/>
        </p:nvCxnSpPr>
        <p:spPr>
          <a:xfrm>
            <a:off x="245938" y="4726725"/>
            <a:ext cx="867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" name="Google Shape;290;p37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" name="Google Shape;291;p37"/>
          <p:cNvSpPr txBox="1"/>
          <p:nvPr>
            <p:ph idx="1" type="body"/>
          </p:nvPr>
        </p:nvSpPr>
        <p:spPr>
          <a:xfrm>
            <a:off x="2657270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92" name="Google Shape;292;p37"/>
          <p:cNvSpPr txBox="1"/>
          <p:nvPr>
            <p:ph idx="2" type="body"/>
          </p:nvPr>
        </p:nvSpPr>
        <p:spPr>
          <a:xfrm>
            <a:off x="155625" y="4726725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54">
          <p15:clr>
            <a:srgbClr val="E46962"/>
          </p15:clr>
        </p15:guide>
        <p15:guide id="2" pos="5617">
          <p15:clr>
            <a:srgbClr val="E46962"/>
          </p15:clr>
        </p15:guide>
        <p15:guide id="3" orient="horz" pos="216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09800" y="108525"/>
            <a:ext cx="8806800" cy="22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Lexend Medium"/>
              <a:buNone/>
              <a:defRPr sz="7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09800" y="2829950"/>
            <a:ext cx="8520600" cy="19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●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○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DM Sans"/>
              <a:buChar char="■"/>
              <a:defRPr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rtl="0" algn="r">
              <a:buNone/>
              <a:defRPr sz="9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online.bhcc.edu/pluginfile.php/3819291/mod_resource/content/1/midterm_practice_01.pdf" TargetMode="External"/><Relationship Id="rId4" Type="http://schemas.openxmlformats.org/officeDocument/2006/relationships/hyperlink" Target="https://online.bhcc.edu/pluginfile.php/3824470/mod_resource/content/1/midterm_practice_02.pdf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8"/>
          <p:cNvSpPr txBox="1"/>
          <p:nvPr>
            <p:ph type="title"/>
          </p:nvPr>
        </p:nvSpPr>
        <p:spPr>
          <a:xfrm>
            <a:off x="116485" y="2712675"/>
            <a:ext cx="5311200" cy="18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BHCC CSC 125-03 Python Programming</a:t>
            </a:r>
            <a:endParaRPr sz="5000"/>
          </a:p>
        </p:txBody>
      </p:sp>
      <p:sp>
        <p:nvSpPr>
          <p:cNvPr id="298" name="Google Shape;298;p38"/>
          <p:cNvSpPr txBox="1"/>
          <p:nvPr>
            <p:ph idx="1" type="subTitle"/>
          </p:nvPr>
        </p:nvSpPr>
        <p:spPr>
          <a:xfrm>
            <a:off x="152600" y="832000"/>
            <a:ext cx="2749800" cy="8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Week 9: While Loops, Debugging, Try/Except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8"/>
          <p:cNvSpPr txBox="1"/>
          <p:nvPr>
            <p:ph idx="2" type="body"/>
          </p:nvPr>
        </p:nvSpPr>
        <p:spPr>
          <a:xfrm>
            <a:off x="3825600" y="4736971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BHCC CSC 125-03</a:t>
            </a:r>
            <a:endParaRPr/>
          </a:p>
        </p:txBody>
      </p:sp>
      <p:sp>
        <p:nvSpPr>
          <p:cNvPr id="300" name="Google Shape;300;p38"/>
          <p:cNvSpPr txBox="1"/>
          <p:nvPr>
            <p:ph idx="3" type="body"/>
          </p:nvPr>
        </p:nvSpPr>
        <p:spPr>
          <a:xfrm>
            <a:off x="155625" y="4736971"/>
            <a:ext cx="17631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October 27th, 2025</a:t>
            </a:r>
            <a:endParaRPr/>
          </a:p>
        </p:txBody>
      </p:sp>
      <p:sp>
        <p:nvSpPr>
          <p:cNvPr id="301" name="Google Shape;301;p38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7" name="Google Shape;307;p39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Today’s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Agena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9"/>
          <p:cNvSpPr txBox="1"/>
          <p:nvPr>
            <p:ph idx="3" type="body"/>
          </p:nvPr>
        </p:nvSpPr>
        <p:spPr>
          <a:xfrm>
            <a:off x="5028550" y="230050"/>
            <a:ext cx="3806400" cy="423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Week 8 Review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Midterm Practice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Week 9 Intro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Week 9 Code Lecture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/>
              <a:t>The homework and </a:t>
            </a:r>
            <a:r>
              <a:rPr lang="en" sz="2000"/>
              <a:t>materials</a:t>
            </a:r>
            <a:r>
              <a:rPr lang="en" sz="2000"/>
              <a:t> this week are much shorter to give you more time to study. </a:t>
            </a:r>
            <a:endParaRPr sz="2000"/>
          </a:p>
        </p:txBody>
      </p:sp>
      <p:sp>
        <p:nvSpPr>
          <p:cNvPr id="309" name="Google Shape;309;p39"/>
          <p:cNvSpPr txBox="1"/>
          <p:nvPr>
            <p:ph idx="1" type="body"/>
          </p:nvPr>
        </p:nvSpPr>
        <p:spPr>
          <a:xfrm>
            <a:off x="3825600" y="4736971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BHCC CSC 125-03</a:t>
            </a:r>
            <a:endParaRPr/>
          </a:p>
        </p:txBody>
      </p:sp>
      <p:sp>
        <p:nvSpPr>
          <p:cNvPr id="310" name="Google Shape;310;p39"/>
          <p:cNvSpPr txBox="1"/>
          <p:nvPr>
            <p:ph idx="2" type="body"/>
          </p:nvPr>
        </p:nvSpPr>
        <p:spPr>
          <a:xfrm>
            <a:off x="155625" y="4736971"/>
            <a:ext cx="17631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October 27th, 2025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0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40"/>
          <p:cNvSpPr txBox="1"/>
          <p:nvPr>
            <p:ph type="title"/>
          </p:nvPr>
        </p:nvSpPr>
        <p:spPr>
          <a:xfrm>
            <a:off x="146450" y="186950"/>
            <a:ext cx="8601300" cy="7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8 - For Loops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317" name="Google Shape;317;p40"/>
          <p:cNvSpPr txBox="1"/>
          <p:nvPr>
            <p:ph idx="3" type="body"/>
          </p:nvPr>
        </p:nvSpPr>
        <p:spPr>
          <a:xfrm>
            <a:off x="244425" y="897050"/>
            <a:ext cx="4239600" cy="36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For Loop Basics</a:t>
            </a:r>
            <a:endParaRPr b="1"/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lang="en"/>
              <a:t>Use for to iterate through sequences: for item in list: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lang="en"/>
              <a:t>Works with lists, strings, and ranges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lang="en"/>
              <a:t>Loop body must be indented under for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Using range()</a:t>
            </a:r>
            <a:endParaRPr b="1"/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lang="en"/>
              <a:t>range(stop), range(start, stop), range(start, stop, step)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lang="en"/>
              <a:t>range(5) gives 0–4, end excluded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lang="en"/>
              <a:t>Use list(range(5)) to see full list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Common Patterns</a:t>
            </a:r>
            <a:endParaRPr b="1"/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lang="en"/>
              <a:t>Accumulate: total += num adds up items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lang="en"/>
              <a:t>Count: if cond: count += 1 increments on match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lang="en"/>
              <a:t>Build list: new.append(item * 2) creates new list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40"/>
          <p:cNvSpPr txBox="1"/>
          <p:nvPr>
            <p:ph idx="3" type="body"/>
          </p:nvPr>
        </p:nvSpPr>
        <p:spPr>
          <a:xfrm>
            <a:off x="4770550" y="935700"/>
            <a:ext cx="4239600" cy="37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/>
              <a:t>Looping with Indices</a:t>
            </a:r>
            <a:endParaRPr b="1"/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lang="en"/>
              <a:t>for i in range(len(list)): gives positions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lang="en"/>
              <a:t>Modify by index: list[i] += 1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lang="en"/>
              <a:t>Only use indices when needed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/>
              <a:t>References vs Copies</a:t>
            </a:r>
            <a:endParaRPr b="1"/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lang="en"/>
              <a:t>for char in text: iterates characters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lang="en"/>
              <a:t>Count vowels or filter letters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lang="en"/>
              <a:t>Build new string by adding chars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/>
              <a:t>Nested Loops and Conditionals</a:t>
            </a:r>
            <a:endParaRPr b="1"/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lang="en"/>
              <a:t>Inner loop runs fully for each outer loop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lang="en"/>
              <a:t>Combine with if for filtering or comparisons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"/>
              <a:buChar char="●"/>
            </a:pPr>
            <a:r>
              <a:rPr lang="en"/>
              <a:t>Avoid deep nesting when possible</a:t>
            </a:r>
            <a:endParaRPr/>
          </a:p>
        </p:txBody>
      </p:sp>
      <p:sp>
        <p:nvSpPr>
          <p:cNvPr id="319" name="Google Shape;319;p40"/>
          <p:cNvSpPr txBox="1"/>
          <p:nvPr>
            <p:ph idx="1" type="body"/>
          </p:nvPr>
        </p:nvSpPr>
        <p:spPr>
          <a:xfrm>
            <a:off x="3825600" y="4736971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BHCC CSC 125-03</a:t>
            </a:r>
            <a:endParaRPr/>
          </a:p>
        </p:txBody>
      </p:sp>
      <p:sp>
        <p:nvSpPr>
          <p:cNvPr id="320" name="Google Shape;320;p40"/>
          <p:cNvSpPr txBox="1"/>
          <p:nvPr>
            <p:ph idx="2" type="body"/>
          </p:nvPr>
        </p:nvSpPr>
        <p:spPr>
          <a:xfrm>
            <a:off x="155625" y="4736971"/>
            <a:ext cx="17631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October 27th, 2025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1"/>
          <p:cNvSpPr txBox="1"/>
          <p:nvPr/>
        </p:nvSpPr>
        <p:spPr>
          <a:xfrm>
            <a:off x="355850" y="845750"/>
            <a:ext cx="4088100" cy="3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Topics Tested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Variables, data types, type conversion, input/output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Strings: methods, slicing, f-strings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Operators: arithmetic, comparison, assignment, boolean, precedence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Conditionals: if/elif/else, logical operators, nested conditions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Lists/Tuples: creation, indexing, slicing, basic methods, mutability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For loops: syntax, range(), nested loops, iteration patterns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While loops: syntax, break/continue, input validation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Practice Problems on Moodle, and an additional practice covering the code writing problems are posted.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 u="sng">
                <a:solidFill>
                  <a:schemeClr val="hlink"/>
                </a:solidFill>
                <a:hlinkClick r:id="rId3"/>
              </a:rPr>
              <a:t>https://online.bhcc.edu/pluginfile.php/3819291/mod_resource/content/1/midterm_practice_01.pdf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26" name="Google Shape;326;p41"/>
          <p:cNvSpPr txBox="1"/>
          <p:nvPr>
            <p:ph type="title"/>
          </p:nvPr>
        </p:nvSpPr>
        <p:spPr>
          <a:xfrm>
            <a:off x="146450" y="186950"/>
            <a:ext cx="4917900" cy="7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Midterm Overview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1"/>
          <p:cNvSpPr txBox="1"/>
          <p:nvPr/>
        </p:nvSpPr>
        <p:spPr>
          <a:xfrm>
            <a:off x="4572000" y="814850"/>
            <a:ext cx="4438200" cy="35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Coverage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Weeks 2-9: Variables through While Loops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While loops will not be heavily tested as you will not have much time with them before the Midterm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Format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Mix of code writing, code reading, and debugging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Trace code execution and predict output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Fix errors in provided code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Write short programs combining multiple concepts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structure while be very similar to the quizzes with the addition of writing small programs. Practice Here: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 u="sng">
                <a:solidFill>
                  <a:schemeClr val="hlink"/>
                </a:solidFill>
                <a:hlinkClick r:id="rId4"/>
              </a:rPr>
              <a:t>https://online.bhcc.edu/pluginfile.php/3824470/mod_resource/content/1/midterm_practice_02.pdf 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28" name="Google Shape;328;p41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9" name="Google Shape;329;p41"/>
          <p:cNvSpPr txBox="1"/>
          <p:nvPr>
            <p:ph idx="1" type="body"/>
          </p:nvPr>
        </p:nvSpPr>
        <p:spPr>
          <a:xfrm>
            <a:off x="3825600" y="4736971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BHCC CSC 125-03</a:t>
            </a:r>
            <a:endParaRPr/>
          </a:p>
        </p:txBody>
      </p:sp>
      <p:sp>
        <p:nvSpPr>
          <p:cNvPr id="330" name="Google Shape;330;p41"/>
          <p:cNvSpPr txBox="1"/>
          <p:nvPr>
            <p:ph idx="2" type="body"/>
          </p:nvPr>
        </p:nvSpPr>
        <p:spPr>
          <a:xfrm>
            <a:off x="155625" y="4736971"/>
            <a:ext cx="17631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October 27th, 2025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2"/>
          <p:cNvSpPr txBox="1"/>
          <p:nvPr>
            <p:ph type="title"/>
          </p:nvPr>
        </p:nvSpPr>
        <p:spPr>
          <a:xfrm>
            <a:off x="146450" y="186950"/>
            <a:ext cx="89976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While Loops: Real World Examples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42"/>
          <p:cNvSpPr txBox="1"/>
          <p:nvPr/>
        </p:nvSpPr>
        <p:spPr>
          <a:xfrm>
            <a:off x="4379050" y="822075"/>
            <a:ext cx="4631100" cy="3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Scenario: Phone Battery Monitor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Your phone checks battery level every minute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How does it warn you when power drops below 20%?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How does it keep showing the updated percentage as time passes?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Scenario: ATM Withdrawal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An ATM waits for you to enter the correct PIN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How does it keep asking until you enter it right or cancel?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How does it stop after three failed attempts?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Scenario: Coffee Machine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Machine keeps brewing until water runs out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How does it monitor the water tank level?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How does it stop heating when the tank is empty?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37" name="Google Shape;337;p42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8" name="Google Shape;338;p42" title="whilemem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59650"/>
            <a:ext cx="4074250" cy="3042955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2"/>
          <p:cNvSpPr txBox="1"/>
          <p:nvPr>
            <p:ph idx="1" type="body"/>
          </p:nvPr>
        </p:nvSpPr>
        <p:spPr>
          <a:xfrm>
            <a:off x="3825600" y="4736971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BHCC CSC 125-03</a:t>
            </a:r>
            <a:endParaRPr/>
          </a:p>
        </p:txBody>
      </p:sp>
      <p:sp>
        <p:nvSpPr>
          <p:cNvPr id="340" name="Google Shape;340;p42"/>
          <p:cNvSpPr txBox="1"/>
          <p:nvPr>
            <p:ph idx="2" type="body"/>
          </p:nvPr>
        </p:nvSpPr>
        <p:spPr>
          <a:xfrm>
            <a:off x="155625" y="4736971"/>
            <a:ext cx="17631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October 27th, 2025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3"/>
          <p:cNvSpPr txBox="1"/>
          <p:nvPr>
            <p:ph type="title"/>
          </p:nvPr>
        </p:nvSpPr>
        <p:spPr>
          <a:xfrm>
            <a:off x="146450" y="186948"/>
            <a:ext cx="4506900" cy="11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But What Does it Look Like in Python?</a:t>
            </a:r>
            <a:endParaRPr sz="3200"/>
          </a:p>
        </p:txBody>
      </p:sp>
      <p:sp>
        <p:nvSpPr>
          <p:cNvPr id="346" name="Google Shape;346;p43"/>
          <p:cNvSpPr txBox="1"/>
          <p:nvPr>
            <p:ph idx="3" type="body"/>
          </p:nvPr>
        </p:nvSpPr>
        <p:spPr>
          <a:xfrm>
            <a:off x="4653350" y="0"/>
            <a:ext cx="4185300" cy="46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latin typeface="Arial"/>
                <a:ea typeface="Arial"/>
                <a:cs typeface="Arial"/>
                <a:sym typeface="Arial"/>
              </a:rPr>
              <a:t>ATM Withdrawal</a:t>
            </a:r>
            <a:endParaRPr b="1"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188242"/>
                </a:solidFill>
                <a:latin typeface="Arial"/>
                <a:ea typeface="Arial"/>
                <a:cs typeface="Arial"/>
                <a:sym typeface="Arial"/>
              </a:rPr>
              <a:t>attempts = 0</a:t>
            </a:r>
            <a:endParaRPr b="1" sz="900">
              <a:solidFill>
                <a:srgbClr val="1882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188242"/>
                </a:solidFill>
                <a:latin typeface="Arial"/>
                <a:ea typeface="Arial"/>
                <a:cs typeface="Arial"/>
                <a:sym typeface="Arial"/>
              </a:rPr>
              <a:t>pin = ""</a:t>
            </a:r>
            <a:endParaRPr b="1" sz="900">
              <a:solidFill>
                <a:srgbClr val="1882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188242"/>
                </a:solidFill>
                <a:latin typeface="Arial"/>
                <a:ea typeface="Arial"/>
                <a:cs typeface="Arial"/>
                <a:sym typeface="Arial"/>
              </a:rPr>
              <a:t>while pin != "1234" and attempts &lt; 3:</a:t>
            </a:r>
            <a:endParaRPr b="1" sz="900">
              <a:solidFill>
                <a:srgbClr val="1882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188242"/>
                </a:solidFill>
                <a:latin typeface="Arial"/>
                <a:ea typeface="Arial"/>
                <a:cs typeface="Arial"/>
                <a:sym typeface="Arial"/>
              </a:rPr>
              <a:t>    pin = input("Enter PIN: ")</a:t>
            </a:r>
            <a:endParaRPr b="1" sz="900">
              <a:solidFill>
                <a:srgbClr val="1882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188242"/>
                </a:solidFill>
                <a:latin typeface="Arial"/>
                <a:ea typeface="Arial"/>
                <a:cs typeface="Arial"/>
                <a:sym typeface="Arial"/>
              </a:rPr>
              <a:t>    attempts += 1</a:t>
            </a:r>
            <a:endParaRPr b="1" sz="900">
              <a:solidFill>
                <a:srgbClr val="1882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188242"/>
                </a:solidFill>
                <a:latin typeface="Arial"/>
                <a:ea typeface="Arial"/>
                <a:cs typeface="Arial"/>
                <a:sym typeface="Arial"/>
              </a:rPr>
              <a:t>if pin == "1234":</a:t>
            </a:r>
            <a:endParaRPr b="1" sz="900">
              <a:solidFill>
                <a:srgbClr val="1882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188242"/>
                </a:solidFill>
                <a:latin typeface="Arial"/>
                <a:ea typeface="Arial"/>
                <a:cs typeface="Arial"/>
                <a:sym typeface="Arial"/>
              </a:rPr>
              <a:t>    print("Access granted")</a:t>
            </a:r>
            <a:endParaRPr b="1" sz="900">
              <a:solidFill>
                <a:srgbClr val="1882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188242"/>
                </a:solidFill>
                <a:latin typeface="Arial"/>
                <a:ea typeface="Arial"/>
                <a:cs typeface="Arial"/>
                <a:sym typeface="Arial"/>
              </a:rPr>
              <a:t>else:</a:t>
            </a:r>
            <a:endParaRPr b="1" sz="900">
              <a:solidFill>
                <a:srgbClr val="1882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188242"/>
                </a:solidFill>
                <a:latin typeface="Arial"/>
                <a:ea typeface="Arial"/>
                <a:cs typeface="Arial"/>
                <a:sym typeface="Arial"/>
              </a:rPr>
              <a:t>    print("Card locked")</a:t>
            </a:r>
            <a:endParaRPr b="1" sz="900">
              <a:solidFill>
                <a:srgbClr val="1882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latin typeface="Arial"/>
                <a:ea typeface="Arial"/>
                <a:cs typeface="Arial"/>
                <a:sym typeface="Arial"/>
              </a:rPr>
              <a:t>Coffee Machine</a:t>
            </a:r>
            <a:endParaRPr b="1" sz="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188242"/>
                </a:solidFill>
                <a:latin typeface="Arial"/>
                <a:ea typeface="Arial"/>
                <a:cs typeface="Arial"/>
                <a:sym typeface="Arial"/>
              </a:rPr>
              <a:t>water = 5</a:t>
            </a:r>
            <a:endParaRPr b="1" sz="900">
              <a:solidFill>
                <a:srgbClr val="1882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188242"/>
                </a:solidFill>
                <a:latin typeface="Arial"/>
                <a:ea typeface="Arial"/>
                <a:cs typeface="Arial"/>
                <a:sym typeface="Arial"/>
              </a:rPr>
              <a:t>while water &gt; 0:</a:t>
            </a:r>
            <a:endParaRPr b="1" sz="900">
              <a:solidFill>
                <a:srgbClr val="1882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188242"/>
                </a:solidFill>
                <a:latin typeface="Arial"/>
                <a:ea typeface="Arial"/>
                <a:cs typeface="Arial"/>
                <a:sym typeface="Arial"/>
              </a:rPr>
              <a:t>    print("Brewing coffee...")</a:t>
            </a:r>
            <a:endParaRPr b="1" sz="900">
              <a:solidFill>
                <a:srgbClr val="1882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188242"/>
                </a:solidFill>
                <a:latin typeface="Arial"/>
                <a:ea typeface="Arial"/>
                <a:cs typeface="Arial"/>
                <a:sym typeface="Arial"/>
              </a:rPr>
              <a:t>    water -= 1</a:t>
            </a:r>
            <a:endParaRPr b="1" sz="900">
              <a:solidFill>
                <a:srgbClr val="1882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188242"/>
                </a:solidFill>
                <a:latin typeface="Arial"/>
                <a:ea typeface="Arial"/>
                <a:cs typeface="Arial"/>
                <a:sym typeface="Arial"/>
              </a:rPr>
              <a:t>print("Out of water, stopping machine")</a:t>
            </a:r>
            <a:endParaRPr b="1" sz="900">
              <a:solidFill>
                <a:srgbClr val="18824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3"/>
          <p:cNvSpPr txBox="1"/>
          <p:nvPr>
            <p:ph idx="12" type="sldNum"/>
          </p:nvPr>
        </p:nvSpPr>
        <p:spPr>
          <a:xfrm>
            <a:off x="8461460" y="4726725"/>
            <a:ext cx="548700" cy="30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8" name="Google Shape;348;p43"/>
          <p:cNvSpPr txBox="1"/>
          <p:nvPr/>
        </p:nvSpPr>
        <p:spPr>
          <a:xfrm>
            <a:off x="171350" y="1997025"/>
            <a:ext cx="4457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Phone Battery Monitor</a:t>
            </a:r>
            <a:endParaRPr b="1" sz="11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88242"/>
                </a:solidFill>
              </a:rPr>
              <a:t>battery = 100</a:t>
            </a:r>
            <a:endParaRPr b="1" sz="1100">
              <a:solidFill>
                <a:srgbClr val="188242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88242"/>
                </a:solidFill>
              </a:rPr>
              <a:t>while battery &gt; 20:</a:t>
            </a:r>
            <a:endParaRPr b="1" sz="1100">
              <a:solidFill>
                <a:srgbClr val="188242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88242"/>
                </a:solidFill>
              </a:rPr>
              <a:t>    print(f"Battery at {battery}%")</a:t>
            </a:r>
            <a:endParaRPr b="1" sz="1100">
              <a:solidFill>
                <a:srgbClr val="188242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88242"/>
                </a:solidFill>
              </a:rPr>
              <a:t>    battery -= 5</a:t>
            </a:r>
            <a:endParaRPr b="1" sz="1100">
              <a:solidFill>
                <a:srgbClr val="188242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88242"/>
                </a:solidFill>
              </a:rPr>
              <a:t>print("Low battery warning!")</a:t>
            </a:r>
            <a:endParaRPr b="1" sz="1100">
              <a:solidFill>
                <a:srgbClr val="188242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9" name="Google Shape;349;p43"/>
          <p:cNvSpPr txBox="1"/>
          <p:nvPr>
            <p:ph idx="1" type="body"/>
          </p:nvPr>
        </p:nvSpPr>
        <p:spPr>
          <a:xfrm>
            <a:off x="3825600" y="4736971"/>
            <a:ext cx="14928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BHCC CSC 125-03</a:t>
            </a:r>
            <a:endParaRPr/>
          </a:p>
        </p:txBody>
      </p:sp>
      <p:sp>
        <p:nvSpPr>
          <p:cNvPr id="350" name="Google Shape;350;p43"/>
          <p:cNvSpPr txBox="1"/>
          <p:nvPr>
            <p:ph idx="2" type="body"/>
          </p:nvPr>
        </p:nvSpPr>
        <p:spPr>
          <a:xfrm>
            <a:off x="155625" y="4736971"/>
            <a:ext cx="1763100" cy="3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October 27th, 2025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fessional Development #2">
  <a:themeElements>
    <a:clrScheme name="Simple Light">
      <a:dk1>
        <a:srgbClr val="000000"/>
      </a:dk1>
      <a:lt1>
        <a:srgbClr val="FCEFE5"/>
      </a:lt1>
      <a:dk2>
        <a:srgbClr val="A47FA7"/>
      </a:dk2>
      <a:lt2>
        <a:srgbClr val="2170F2"/>
      </a:lt2>
      <a:accent1>
        <a:srgbClr val="FFD966"/>
      </a:accent1>
      <a:accent2>
        <a:srgbClr val="CC0000"/>
      </a:accent2>
      <a:accent3>
        <a:srgbClr val="646464"/>
      </a:accent3>
      <a:accent4>
        <a:srgbClr val="FFFFFF"/>
      </a:accent4>
      <a:accent5>
        <a:srgbClr val="3D0B37"/>
      </a:accent5>
      <a:accent6>
        <a:srgbClr val="63264A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