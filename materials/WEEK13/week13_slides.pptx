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Lexend Light"/>
      <p:regular r:id="rId13"/>
      <p:bold r:id="rId14"/>
    </p:embeddedFont>
    <p:embeddedFont>
      <p:font typeface="Lexend Medium"/>
      <p:regular r:id="rId15"/>
      <p:bold r:id="rId16"/>
    </p:embeddedFont>
    <p:embeddedFont>
      <p:font typeface="DM Sans SemiBold"/>
      <p:regular r:id="rId17"/>
      <p:bold r:id="rId18"/>
      <p:italic r:id="rId19"/>
      <p:boldItalic r:id="rId20"/>
    </p:embeddedFont>
    <p:embeddedFont>
      <p:font typeface="Lexend"/>
      <p:regular r:id="rId21"/>
      <p:bold r:id="rId22"/>
    </p:embeddedFont>
    <p:embeddedFont>
      <p:font typeface="Roboto Mono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SemiBold-boldItalic.fntdata"/><Relationship Id="rId22" Type="http://schemas.openxmlformats.org/officeDocument/2006/relationships/font" Target="fonts/Lexend-bold.fntdata"/><Relationship Id="rId21" Type="http://schemas.openxmlformats.org/officeDocument/2006/relationships/font" Target="fonts/Lexend-regular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exendLight-regular.fntdata"/><Relationship Id="rId12" Type="http://schemas.openxmlformats.org/officeDocument/2006/relationships/slide" Target="slides/slide7.xml"/><Relationship Id="rId15" Type="http://schemas.openxmlformats.org/officeDocument/2006/relationships/font" Target="fonts/LexendMedium-regular.fntdata"/><Relationship Id="rId14" Type="http://schemas.openxmlformats.org/officeDocument/2006/relationships/font" Target="fonts/LexendLight-bold.fntdata"/><Relationship Id="rId17" Type="http://schemas.openxmlformats.org/officeDocument/2006/relationships/font" Target="fonts/DMSansSemiBold-regular.fntdata"/><Relationship Id="rId16" Type="http://schemas.openxmlformats.org/officeDocument/2006/relationships/font" Target="fonts/LexendMedium-bold.fntdata"/><Relationship Id="rId19" Type="http://schemas.openxmlformats.org/officeDocument/2006/relationships/font" Target="fonts/DMSansSemiBold-italic.fntdata"/><Relationship Id="rId18" Type="http://schemas.openxmlformats.org/officeDocument/2006/relationships/font" Target="fonts/DM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55877da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55877da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5877da0e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5877da0e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65b6e884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65b6e884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f0a150a8e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f0a150a8e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b0d2667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9b0d2667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1de2d99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1de2d99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1de2d99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1de2d99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14" name="Google Shape;14;p2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24" name="Google Shape;24;p2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27" name="Google Shape;27;p2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0" name="Google Shape;30;p2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2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1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" name="Google Shape;115;p1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" name="Google Shape;116;p1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" name="Google Shape;117;p1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2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2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66" name="Google Shape;166;p24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8" name="Google Shape;198;p2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2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5" name="Google Shape;205;p2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2" name="Google Shape;212;p2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7" name="Google Shape;217;p3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30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22" name="Google Shape;222;p3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5" name="Google Shape;225;p3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1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0" name="Google Shape;230;p31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6" name="Google Shape;236;p3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32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32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1" name="Google Shape;251;p33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4" name="Google Shape;254;p33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3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5" name="Google Shape;265;p3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9" name="Google Shape;269;p3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72" name="Google Shape;272;p3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5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6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6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1" name="Google Shape;281;p3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6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9" name="Google Shape;289;p3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2" name="Google Shape;292;p3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BHCC CSC 125-03 Python Programming</a:t>
            </a:r>
            <a:endParaRPr sz="50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152600" y="832000"/>
            <a:ext cx="27498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Week 13: Libraries and Modules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>
            <p:ph idx="2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00" name="Google Shape;300;p38"/>
          <p:cNvSpPr txBox="1"/>
          <p:nvPr>
            <p:ph idx="3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Today’s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>
            <p:ph idx="3" type="body"/>
          </p:nvPr>
        </p:nvSpPr>
        <p:spPr>
          <a:xfrm>
            <a:off x="5028550" y="230050"/>
            <a:ext cx="3806400" cy="4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Course Schedule Reminder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12 Refresher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13 Intro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13 Code Lecture</a:t>
            </a:r>
            <a:endParaRPr sz="2000"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10" name="Google Shape;310;p39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146450" y="146125"/>
            <a:ext cx="8770200" cy="7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Schedule - Final Weeks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0"/>
          <p:cNvSpPr txBox="1"/>
          <p:nvPr>
            <p:ph idx="3" type="body"/>
          </p:nvPr>
        </p:nvSpPr>
        <p:spPr>
          <a:xfrm>
            <a:off x="244425" y="898550"/>
            <a:ext cx="8590500" cy="3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WEEK 13 (this week)  – Monday, November 24th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Quiz, Dictionaries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Homework from last week: Final Project Pseudocode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Extended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to be due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Tuesday, November 25th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at 11:59PM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Enjoy Thanksgiving Break, BHCC is off Thursday through Sunday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WEEK 14 – Monday, December 1st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Start working on Final Project Code,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Nothing due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WEEK 15 (LAST CLASS)  – Monday, December 8th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Special Final Quiz (if you have a laptop bring it, if not we can use the classroom computers, anyone who attends will get full credit) Coffee and Donuts will also be provided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FINAL PROJECT DUE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Sunday, December 14th at 11:59 PM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18" name="Google Shape;318;p40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19" name="Google Shape;319;p40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1"/>
          <p:cNvSpPr txBox="1"/>
          <p:nvPr>
            <p:ph type="title"/>
          </p:nvPr>
        </p:nvSpPr>
        <p:spPr>
          <a:xfrm>
            <a:off x="146450" y="186950"/>
            <a:ext cx="8601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12 Refresher -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326" name="Google Shape;326;p41"/>
          <p:cNvSpPr txBox="1"/>
          <p:nvPr>
            <p:ph idx="3" type="body"/>
          </p:nvPr>
        </p:nvSpPr>
        <p:spPr>
          <a:xfrm>
            <a:off x="244425" y="897050"/>
            <a:ext cx="7712700" cy="3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Function Basics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Define with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function_name(parameter):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Call with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function_name(argument)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Body must be indented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Parameters and Arguments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Parameters are variables in the definition: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greet(name):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Arguments are values when calling: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greet("Alice")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Multiple parameters: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area(length, width):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Return Values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to send data back from function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Returned value can be used in expressions: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 = add(5, 3) * 2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Without return, function returns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28" name="Google Shape;328;p41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 txBox="1"/>
          <p:nvPr>
            <p:ph type="title"/>
          </p:nvPr>
        </p:nvSpPr>
        <p:spPr>
          <a:xfrm>
            <a:off x="146450" y="186950"/>
            <a:ext cx="8997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Libraries: Build a Birdhouse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2"/>
          <p:cNvSpPr txBox="1"/>
          <p:nvPr/>
        </p:nvSpPr>
        <p:spPr>
          <a:xfrm>
            <a:off x="4379050" y="822075"/>
            <a:ext cx="46311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5" name="Google Shape;335;p4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2"/>
          <p:cNvSpPr txBox="1"/>
          <p:nvPr/>
        </p:nvSpPr>
        <p:spPr>
          <a:xfrm>
            <a:off x="4379050" y="907250"/>
            <a:ext cx="463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4396675" y="921925"/>
            <a:ext cx="45201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do you need?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Hammer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Saw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Screwdriver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Nails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Wood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Do you BUILD the hammer first?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Bird in a birdhouse (Provided by Getty Images)" id="338" name="Google Shape;33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9650"/>
            <a:ext cx="4074250" cy="2667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>
            <p:ph type="title"/>
          </p:nvPr>
        </p:nvSpPr>
        <p:spPr>
          <a:xfrm>
            <a:off x="146450" y="186950"/>
            <a:ext cx="8604000" cy="7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is the same</a:t>
            </a:r>
            <a:endParaRPr/>
          </a:p>
        </p:txBody>
      </p:sp>
      <p:sp>
        <p:nvSpPr>
          <p:cNvPr id="346" name="Google Shape;346;p43"/>
          <p:cNvSpPr txBox="1"/>
          <p:nvPr/>
        </p:nvSpPr>
        <p:spPr>
          <a:xfrm>
            <a:off x="244425" y="790550"/>
            <a:ext cx="5757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You're building a program that needs: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Random numbers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Date calculations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Math operations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Do you BUILD the random number generator first?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descr="Roulette wheel spinning (Provided by Getty Images)" id="347" name="Google Shape;3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8400" y="2482075"/>
            <a:ext cx="3383173" cy="225490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3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49" name="Google Shape;349;p43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idx="3" type="body"/>
          </p:nvPr>
        </p:nvSpPr>
        <p:spPr>
          <a:xfrm>
            <a:off x="244425" y="832650"/>
            <a:ext cx="3735600" cy="20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Library = Toolbox of pre-built functions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Someone already: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Wrote the code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Tested it thoroughly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Made it work perfectly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You just grab it and use it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4"/>
          <p:cNvSpPr txBox="1"/>
          <p:nvPr>
            <p:ph type="title"/>
          </p:nvPr>
        </p:nvSpPr>
        <p:spPr>
          <a:xfrm>
            <a:off x="146450" y="186949"/>
            <a:ext cx="87276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Libraries </a:t>
            </a:r>
            <a:endParaRPr/>
          </a:p>
        </p:txBody>
      </p:sp>
      <p:sp>
        <p:nvSpPr>
          <p:cNvPr id="356" name="Google Shape;356;p44"/>
          <p:cNvSpPr txBox="1"/>
          <p:nvPr/>
        </p:nvSpPr>
        <p:spPr>
          <a:xfrm>
            <a:off x="4479963" y="2489088"/>
            <a:ext cx="43941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Why Use Libraries?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Without libraries:</a:t>
            </a:r>
            <a:r>
              <a:rPr lang="en">
                <a:solidFill>
                  <a:schemeClr val="dk1"/>
                </a:solidFill>
              </a:rPr>
              <a:t> Spend weeks building a random number generator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With libraries:</a:t>
            </a:r>
            <a:r>
              <a:rPr lang="en">
                <a:solidFill>
                  <a:schemeClr val="dk1"/>
                </a:solidFill>
              </a:rPr>
              <a:t> Write one line: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random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Focus on YOUR project, not rebuilding basic tools</a:t>
            </a:r>
            <a:endParaRPr sz="1700"/>
          </a:p>
        </p:txBody>
      </p:sp>
      <p:pic>
        <p:nvPicPr>
          <p:cNvPr descr="Library (Provided by Getty Images)" id="357" name="Google Shape;35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088" y="186950"/>
            <a:ext cx="3381827" cy="224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 with bookshelves on screen, office, coffee (Provided by Getty Images)" id="358" name="Google Shape;35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488" y="2894550"/>
            <a:ext cx="2655483" cy="178934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4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60" name="Google Shape;360;p44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