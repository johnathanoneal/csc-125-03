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Lexend Light"/>
      <p:regular r:id="rId12"/>
      <p:bold r:id="rId13"/>
    </p:embeddedFont>
    <p:embeddedFont>
      <p:font typeface="Lexend Medium"/>
      <p:regular r:id="rId14"/>
      <p:bold r:id="rId15"/>
    </p:embeddedFont>
    <p:embeddedFont>
      <p:font typeface="DM Sans SemiBold"/>
      <p:regular r:id="rId16"/>
      <p:bold r:id="rId17"/>
      <p:italic r:id="rId18"/>
      <p:boldItalic r:id="rId19"/>
    </p:embeddedFont>
    <p:embeddedFont>
      <p:font typeface="Lexend"/>
      <p:regular r:id="rId20"/>
      <p:bold r:id="rId21"/>
    </p:embeddedFont>
    <p:embeddedFont>
      <p:font typeface="Roboto Mono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regular.fntdata"/><Relationship Id="rId22" Type="http://schemas.openxmlformats.org/officeDocument/2006/relationships/font" Target="fonts/RobotoMono-regular.fntdata"/><Relationship Id="rId21" Type="http://schemas.openxmlformats.org/officeDocument/2006/relationships/font" Target="fonts/Lexend-bold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regular.fntdata"/><Relationship Id="rId25" Type="http://schemas.openxmlformats.org/officeDocument/2006/relationships/font" Target="fonts/RobotoMono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exendLight-bold.fntdata"/><Relationship Id="rId12" Type="http://schemas.openxmlformats.org/officeDocument/2006/relationships/font" Target="fonts/LexendLight-regular.fntdata"/><Relationship Id="rId15" Type="http://schemas.openxmlformats.org/officeDocument/2006/relationships/font" Target="fonts/LexendMedium-bold.fntdata"/><Relationship Id="rId14" Type="http://schemas.openxmlformats.org/officeDocument/2006/relationships/font" Target="fonts/LexendMedium-regular.fntdata"/><Relationship Id="rId17" Type="http://schemas.openxmlformats.org/officeDocument/2006/relationships/font" Target="fonts/DMSansSemiBold-bold.fntdata"/><Relationship Id="rId16" Type="http://schemas.openxmlformats.org/officeDocument/2006/relationships/font" Target="fonts/DMSansSemiBold-regular.fntdata"/><Relationship Id="rId19" Type="http://schemas.openxmlformats.org/officeDocument/2006/relationships/font" Target="fonts/DMSansSemiBold-boldItalic.fntdata"/><Relationship Id="rId18" Type="http://schemas.openxmlformats.org/officeDocument/2006/relationships/font" Target="fonts/DMSans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55877da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655877da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55877da0e_0_1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55877da0e_0_1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f0a150a8e_5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7f0a150a8e_5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b0d2667b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9b0d2667b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1de2d99f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a1de2d99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1de2d99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a1de2d99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52606" y="832000"/>
            <a:ext cx="24345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5866315" y="66973"/>
            <a:ext cx="2954947" cy="4587953"/>
            <a:chOff x="5866315" y="130139"/>
            <a:chExt cx="2954947" cy="4587953"/>
          </a:xfrm>
        </p:grpSpPr>
        <p:grpSp>
          <p:nvGrpSpPr>
            <p:cNvPr id="14" name="Google Shape;14;p2"/>
            <p:cNvGrpSpPr/>
            <p:nvPr/>
          </p:nvGrpSpPr>
          <p:grpSpPr>
            <a:xfrm rot="1800044">
              <a:off x="7145788" y="375652"/>
              <a:ext cx="1341270" cy="1340671"/>
              <a:chOff x="2441905" y="1248288"/>
              <a:chExt cx="1341300" cy="13407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2442055" y="1248288"/>
                <a:ext cx="1341000" cy="13407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-945">
                <a:off x="2567155" y="1373238"/>
                <a:ext cx="1090800" cy="10908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 rot="2400131">
              <a:off x="7078016" y="3672082"/>
              <a:ext cx="868477" cy="868477"/>
              <a:chOff x="5015268" y="2960846"/>
              <a:chExt cx="868500" cy="8685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5015268" y="2960846"/>
                <a:ext cx="868500" cy="868500"/>
              </a:xfrm>
              <a:prstGeom prst="roundRect">
                <a:avLst>
                  <a:gd fmla="val 14552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19" name="Google Shape;19;p2"/>
              <p:cNvGrpSpPr/>
              <p:nvPr/>
            </p:nvGrpSpPr>
            <p:grpSpPr>
              <a:xfrm>
                <a:off x="5133918" y="3105078"/>
                <a:ext cx="631200" cy="580035"/>
                <a:chOff x="5133582" y="3105408"/>
                <a:chExt cx="631200" cy="580035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 rot="-4902">
                  <a:off x="5133582" y="3105858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 rot="-4902">
                  <a:off x="5133582" y="3300756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 rot="-4902">
                  <a:off x="5133582" y="3492693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</p:grpSp>
        <p:grpSp>
          <p:nvGrpSpPr>
            <p:cNvPr id="23" name="Google Shape;23;p2"/>
            <p:cNvGrpSpPr/>
            <p:nvPr/>
          </p:nvGrpSpPr>
          <p:grpSpPr>
            <a:xfrm rot="-600240">
              <a:off x="5979971" y="2008184"/>
              <a:ext cx="2727635" cy="1547250"/>
              <a:chOff x="6121180" y="1963945"/>
              <a:chExt cx="2727900" cy="1547400"/>
            </a:xfrm>
          </p:grpSpPr>
          <p:sp>
            <p:nvSpPr>
              <p:cNvPr id="24" name="Google Shape;24;p2"/>
              <p:cNvSpPr/>
              <p:nvPr/>
            </p:nvSpPr>
            <p:spPr>
              <a:xfrm rot="756">
                <a:off x="6121180" y="1964245"/>
                <a:ext cx="2727900" cy="1546800"/>
              </a:xfrm>
              <a:prstGeom prst="roundRect">
                <a:avLst>
                  <a:gd fmla="val 804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 rot="5398209">
                <a:off x="7302225" y="2489024"/>
                <a:ext cx="575700" cy="497400"/>
              </a:xfrm>
              <a:prstGeom prst="triangle">
                <a:avLst>
                  <a:gd fmla="val 5000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 rot="-839923">
              <a:off x="6099076" y="520245"/>
              <a:ext cx="889199" cy="1584298"/>
              <a:chOff x="3614175" y="406175"/>
              <a:chExt cx="889200" cy="1584300"/>
            </a:xfrm>
          </p:grpSpPr>
          <p:sp>
            <p:nvSpPr>
              <p:cNvPr id="27" name="Google Shape;27;p2"/>
              <p:cNvSpPr/>
              <p:nvPr/>
            </p:nvSpPr>
            <p:spPr>
              <a:xfrm rot="4652">
                <a:off x="3615375" y="406774"/>
                <a:ext cx="886801" cy="1583102"/>
              </a:xfrm>
              <a:prstGeom prst="roundRect">
                <a:avLst>
                  <a:gd fmla="val 11359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rot="4290">
                <a:off x="3698175" y="488088"/>
                <a:ext cx="721201" cy="1100701"/>
              </a:xfrm>
              <a:prstGeom prst="roundRect">
                <a:avLst>
                  <a:gd fmla="val 8619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 rot="5431">
                <a:off x="3682773" y="1655743"/>
                <a:ext cx="752005" cy="252558"/>
              </a:xfrm>
              <a:prstGeom prst="flowChartTermina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30" name="Google Shape;30;p2"/>
            <p:cNvSpPr/>
            <p:nvPr/>
          </p:nvSpPr>
          <p:spPr>
            <a:xfrm>
              <a:off x="6830386" y="186612"/>
              <a:ext cx="464700" cy="4023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742824" y="3481655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88974" y="1467844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2400046">
              <a:off x="6545745" y="3772294"/>
              <a:ext cx="428439" cy="42843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2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6" name="Google Shape;36;p2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" name="Google Shape;39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" name="Google Shape;82;p1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" name="Google Shape;83;p1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" name="Google Shape;90;p1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" name="Google Shape;98;p1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5" name="Google Shape;105;p17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" name="Google Shape;106;p17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7" name="Google Shape;107;p17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5" name="Google Shape;115;p1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6" name="Google Shape;116;p1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" name="Google Shape;117;p1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" name="Google Shape;125;p2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" name="Google Shape;131;p2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" name="Google Shape;134;p2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7" name="Google Shape;137;p2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2" name="Google Shape;142;p2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3" name="Google Shape;143;p2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2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2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2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with Image">
  <p:cSld name="TITLE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4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63" name="Google Shape;163;p2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146450" y="186951"/>
            <a:ext cx="4506900" cy="25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3" type="body"/>
          </p:nvPr>
        </p:nvSpPr>
        <p:spPr>
          <a:xfrm>
            <a:off x="5145950" y="230050"/>
            <a:ext cx="34209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66" name="Google Shape;166;p24"/>
          <p:cNvSpPr/>
          <p:nvPr>
            <p:ph idx="4" type="pic"/>
          </p:nvPr>
        </p:nvSpPr>
        <p:spPr>
          <a:xfrm>
            <a:off x="5256200" y="1554480"/>
            <a:ext cx="3200400" cy="451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1">
  <p:cSld name="TITLE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168;p2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1" name="Google Shape;171;p2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2" name="Google Shape;172;p25"/>
          <p:cNvSpPr txBox="1"/>
          <p:nvPr>
            <p:ph type="title"/>
          </p:nvPr>
        </p:nvSpPr>
        <p:spPr>
          <a:xfrm>
            <a:off x="146450" y="182880"/>
            <a:ext cx="45069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25"/>
          <p:cNvSpPr txBox="1"/>
          <p:nvPr>
            <p:ph idx="3" type="body"/>
          </p:nvPr>
        </p:nvSpPr>
        <p:spPr>
          <a:xfrm>
            <a:off x="15713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idx="4" type="body"/>
          </p:nvPr>
        </p:nvSpPr>
        <p:spPr>
          <a:xfrm>
            <a:off x="3280200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5" type="body"/>
          </p:nvPr>
        </p:nvSpPr>
        <p:spPr>
          <a:xfrm>
            <a:off x="640628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6" type="subTitle"/>
          </p:nvPr>
        </p:nvSpPr>
        <p:spPr>
          <a:xfrm>
            <a:off x="154113" y="3566150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77" name="Google Shape;177;p25"/>
          <p:cNvSpPr txBox="1"/>
          <p:nvPr>
            <p:ph idx="7" type="subTitle"/>
          </p:nvPr>
        </p:nvSpPr>
        <p:spPr>
          <a:xfrm>
            <a:off x="3280200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8" type="subTitle"/>
          </p:nvPr>
        </p:nvSpPr>
        <p:spPr>
          <a:xfrm>
            <a:off x="6406288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2">
  <p:cSld name="TITLE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3" name="Google Shape;183;p26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4" name="Google Shape;184;p26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4" type="body"/>
          </p:nvPr>
        </p:nvSpPr>
        <p:spPr>
          <a:xfrm>
            <a:off x="411480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idx="5" type="subTitle"/>
          </p:nvPr>
        </p:nvSpPr>
        <p:spPr>
          <a:xfrm>
            <a:off x="411480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88" name="Google Shape;188;p26"/>
          <p:cNvSpPr txBox="1"/>
          <p:nvPr>
            <p:ph idx="6" type="body"/>
          </p:nvPr>
        </p:nvSpPr>
        <p:spPr>
          <a:xfrm>
            <a:off x="649224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9" name="Google Shape;189;p26"/>
          <p:cNvSpPr txBox="1"/>
          <p:nvPr>
            <p:ph idx="7" type="subTitle"/>
          </p:nvPr>
        </p:nvSpPr>
        <p:spPr>
          <a:xfrm>
            <a:off x="649224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8" type="body"/>
          </p:nvPr>
        </p:nvSpPr>
        <p:spPr>
          <a:xfrm>
            <a:off x="411480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91" name="Google Shape;191;p26"/>
          <p:cNvSpPr txBox="1"/>
          <p:nvPr>
            <p:ph idx="9" type="subTitle"/>
          </p:nvPr>
        </p:nvSpPr>
        <p:spPr>
          <a:xfrm>
            <a:off x="411480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13" type="body"/>
          </p:nvPr>
        </p:nvSpPr>
        <p:spPr>
          <a:xfrm>
            <a:off x="649224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14" type="subTitle"/>
          </p:nvPr>
        </p:nvSpPr>
        <p:spPr>
          <a:xfrm>
            <a:off x="649224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">
  <p:cSld name="TITLE_1_1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2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8" name="Google Shape;198;p2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7086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">
  <p:cSld name="TITLE_1_1_1_1_1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28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5" name="Google Shape;205;p28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53660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3" type="body"/>
          </p:nvPr>
        </p:nvSpPr>
        <p:spPr>
          <a:xfrm>
            <a:off x="53660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TITLE_1_1_1_1_1_2_2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29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2" name="Google Shape;212;p29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Top">
  <p:cSld name="TITLE_1_1_1_1_1_2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30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0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7" name="Google Shape;217;p30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8" name="Google Shape;218;p30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" name="Google Shape;219;p30"/>
          <p:cNvSpPr txBox="1"/>
          <p:nvPr>
            <p:ph idx="3" type="body"/>
          </p:nvPr>
        </p:nvSpPr>
        <p:spPr>
          <a:xfrm>
            <a:off x="5028550" y="230050"/>
            <a:ext cx="35382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Q">
  <p:cSld name="TITLE_1_1_1_1_1_2_1_2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5023625" y="657479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222" name="Google Shape;222;p31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1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5" name="Google Shape;225;p31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6" name="Google Shape;226;p31"/>
          <p:cNvSpPr txBox="1"/>
          <p:nvPr>
            <p:ph type="title"/>
          </p:nvPr>
        </p:nvSpPr>
        <p:spPr>
          <a:xfrm>
            <a:off x="146450" y="186948"/>
            <a:ext cx="4506900" cy="12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31"/>
          <p:cNvSpPr txBox="1"/>
          <p:nvPr>
            <p:ph idx="4" type="subTitle"/>
          </p:nvPr>
        </p:nvSpPr>
        <p:spPr>
          <a:xfrm>
            <a:off x="5023625" y="218925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28" name="Google Shape;228;p31"/>
          <p:cNvSpPr txBox="1"/>
          <p:nvPr>
            <p:ph idx="5" type="body"/>
          </p:nvPr>
        </p:nvSpPr>
        <p:spPr>
          <a:xfrm>
            <a:off x="5023625" y="2214467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6" type="subTitle"/>
          </p:nvPr>
        </p:nvSpPr>
        <p:spPr>
          <a:xfrm>
            <a:off x="5023625" y="1775913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30" name="Google Shape;230;p31"/>
          <p:cNvSpPr txBox="1"/>
          <p:nvPr>
            <p:ph idx="7" type="body"/>
          </p:nvPr>
        </p:nvSpPr>
        <p:spPr>
          <a:xfrm>
            <a:off x="5023625" y="3771454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1" name="Google Shape;231;p31"/>
          <p:cNvSpPr txBox="1"/>
          <p:nvPr>
            <p:ph idx="8" type="subTitle"/>
          </p:nvPr>
        </p:nvSpPr>
        <p:spPr>
          <a:xfrm>
            <a:off x="5023625" y="3332900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TITLE_1_1_1_1_1_2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oogle Shape;233;p32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6" name="Google Shape;236;p32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7" name="Google Shape;237;p32"/>
          <p:cNvSpPr txBox="1"/>
          <p:nvPr>
            <p:ph type="title"/>
          </p:nvPr>
        </p:nvSpPr>
        <p:spPr>
          <a:xfrm>
            <a:off x="146450" y="186949"/>
            <a:ext cx="45069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" name="Google Shape;238;p32"/>
          <p:cNvSpPr txBox="1"/>
          <p:nvPr>
            <p:ph idx="3" type="body"/>
          </p:nvPr>
        </p:nvSpPr>
        <p:spPr>
          <a:xfrm>
            <a:off x="14645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9" name="Google Shape;239;p32"/>
          <p:cNvSpPr txBox="1"/>
          <p:nvPr>
            <p:ph idx="4" type="subTitle"/>
          </p:nvPr>
        </p:nvSpPr>
        <p:spPr>
          <a:xfrm>
            <a:off x="14645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0" name="Google Shape;240;p32"/>
          <p:cNvSpPr txBox="1"/>
          <p:nvPr>
            <p:ph idx="5" type="body"/>
          </p:nvPr>
        </p:nvSpPr>
        <p:spPr>
          <a:xfrm>
            <a:off x="14645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1" name="Google Shape;241;p32"/>
          <p:cNvSpPr txBox="1"/>
          <p:nvPr>
            <p:ph idx="6" type="subTitle"/>
          </p:nvPr>
        </p:nvSpPr>
        <p:spPr>
          <a:xfrm>
            <a:off x="14645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2" name="Google Shape;242;p32"/>
          <p:cNvSpPr txBox="1"/>
          <p:nvPr>
            <p:ph idx="7" type="body"/>
          </p:nvPr>
        </p:nvSpPr>
        <p:spPr>
          <a:xfrm>
            <a:off x="387932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3" name="Google Shape;243;p32"/>
          <p:cNvSpPr txBox="1"/>
          <p:nvPr>
            <p:ph idx="8" type="subTitle"/>
          </p:nvPr>
        </p:nvSpPr>
        <p:spPr>
          <a:xfrm>
            <a:off x="387932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9" type="body"/>
          </p:nvPr>
        </p:nvSpPr>
        <p:spPr>
          <a:xfrm>
            <a:off x="387932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5" name="Google Shape;245;p32"/>
          <p:cNvSpPr txBox="1"/>
          <p:nvPr>
            <p:ph idx="13" type="subTitle"/>
          </p:nvPr>
        </p:nvSpPr>
        <p:spPr>
          <a:xfrm>
            <a:off x="387932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TITLE_1_1_1_1_1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247;p33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1" name="Google Shape;251;p33"/>
          <p:cNvSpPr txBox="1"/>
          <p:nvPr>
            <p:ph idx="3" type="body"/>
          </p:nvPr>
        </p:nvSpPr>
        <p:spPr>
          <a:xfrm>
            <a:off x="53813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2" name="Google Shape;252;p33"/>
          <p:cNvSpPr txBox="1"/>
          <p:nvPr>
            <p:ph idx="4" type="body"/>
          </p:nvPr>
        </p:nvSpPr>
        <p:spPr>
          <a:xfrm>
            <a:off x="3280200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3" name="Google Shape;253;p33"/>
          <p:cNvSpPr txBox="1"/>
          <p:nvPr>
            <p:ph idx="5" type="body"/>
          </p:nvPr>
        </p:nvSpPr>
        <p:spPr>
          <a:xfrm>
            <a:off x="602528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4" name="Google Shape;254;p33"/>
          <p:cNvSpPr txBox="1"/>
          <p:nvPr>
            <p:ph idx="6" type="subTitle"/>
          </p:nvPr>
        </p:nvSpPr>
        <p:spPr>
          <a:xfrm>
            <a:off x="535113" y="216218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7" type="subTitle"/>
          </p:nvPr>
        </p:nvSpPr>
        <p:spPr>
          <a:xfrm>
            <a:off x="3280200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8" type="subTitle"/>
          </p:nvPr>
        </p:nvSpPr>
        <p:spPr>
          <a:xfrm>
            <a:off x="6025288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Blank">
  <p:cSld name="TITLE_1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/>
          <p:nvPr/>
        </p:nvSpPr>
        <p:spPr>
          <a:xfrm>
            <a:off x="4830625" y="579550"/>
            <a:ext cx="3188700" cy="6824700"/>
          </a:xfrm>
          <a:prstGeom prst="roundRect">
            <a:avLst>
              <a:gd fmla="val 16566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9" name="Google Shape;259;p3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1" name="Google Shape;261;p3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2" name="Google Shape;262;p34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" name="Google Shape;263;p34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64" name="Google Shape;264;p34"/>
          <p:cNvSpPr/>
          <p:nvPr/>
        </p:nvSpPr>
        <p:spPr>
          <a:xfrm>
            <a:off x="4625575" y="4726725"/>
            <a:ext cx="3598800" cy="4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65" name="Google Shape;265;p34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with Image">
  <p:cSld name="TITLE_1_1_1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3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9" name="Google Shape;269;p3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70" name="Google Shape;270;p35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" name="Google Shape;271;p35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272" name="Google Shape;272;p3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35"/>
          <p:cNvSpPr/>
          <p:nvPr>
            <p:ph idx="4" type="pic"/>
          </p:nvPr>
        </p:nvSpPr>
        <p:spPr>
          <a:xfrm>
            <a:off x="4839625" y="589800"/>
            <a:ext cx="3169800" cy="68025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">
  <p:cSld name="TITLE_1_1_1_1_1_1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/>
          <p:nvPr>
            <p:ph idx="2" type="pic"/>
          </p:nvPr>
        </p:nvSpPr>
        <p:spPr>
          <a:xfrm>
            <a:off x="4506725" y="1592725"/>
            <a:ext cx="4389000" cy="2724900"/>
          </a:xfrm>
          <a:prstGeom prst="roundRect">
            <a:avLst>
              <a:gd fmla="val 7298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6"/>
          <p:cNvSpPr/>
          <p:nvPr>
            <p:ph idx="3" type="pic"/>
          </p:nvPr>
        </p:nvSpPr>
        <p:spPr>
          <a:xfrm>
            <a:off x="2058025" y="1592725"/>
            <a:ext cx="1947600" cy="2724900"/>
          </a:xfrm>
          <a:prstGeom prst="roundRect">
            <a:avLst>
              <a:gd fmla="val 800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36"/>
          <p:cNvSpPr/>
          <p:nvPr>
            <p:ph idx="4" type="pic"/>
          </p:nvPr>
        </p:nvSpPr>
        <p:spPr>
          <a:xfrm>
            <a:off x="244425" y="1592725"/>
            <a:ext cx="1312500" cy="27249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36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279" name="Google Shape;279;p36"/>
          <p:cNvSpPr txBox="1"/>
          <p:nvPr/>
        </p:nvSpPr>
        <p:spPr>
          <a:xfrm>
            <a:off x="2047975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280" name="Google Shape;280;p36"/>
          <p:cNvSpPr txBox="1"/>
          <p:nvPr/>
        </p:nvSpPr>
        <p:spPr>
          <a:xfrm>
            <a:off x="450672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281" name="Google Shape;281;p3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3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3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4" name="Google Shape;284;p36"/>
          <p:cNvSpPr txBox="1"/>
          <p:nvPr>
            <p:ph idx="5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 - No Images">
  <p:cSld name="TITLE_1_1_1_1_1_1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287" name="Google Shape;287;p37"/>
          <p:cNvSpPr txBox="1"/>
          <p:nvPr/>
        </p:nvSpPr>
        <p:spPr>
          <a:xfrm>
            <a:off x="2047950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288" name="Google Shape;288;p37"/>
          <p:cNvSpPr txBox="1"/>
          <p:nvPr/>
        </p:nvSpPr>
        <p:spPr>
          <a:xfrm>
            <a:off x="450667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289" name="Google Shape;289;p3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2" name="Google Shape;292;p3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9800" y="108525"/>
            <a:ext cx="8806800" cy="2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Lexend Medium"/>
              <a:buNone/>
              <a:defRPr sz="7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9800" y="2829950"/>
            <a:ext cx="85206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BHCC CSC 125-03 Python Programming</a:t>
            </a:r>
            <a:endParaRPr sz="5000"/>
          </a:p>
        </p:txBody>
      </p:sp>
      <p:sp>
        <p:nvSpPr>
          <p:cNvPr id="298" name="Google Shape;298;p38"/>
          <p:cNvSpPr txBox="1"/>
          <p:nvPr>
            <p:ph idx="1" type="subTitle"/>
          </p:nvPr>
        </p:nvSpPr>
        <p:spPr>
          <a:xfrm>
            <a:off x="152600" y="832000"/>
            <a:ext cx="27498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Week 11: Dictionaries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8"/>
          <p:cNvSpPr txBox="1"/>
          <p:nvPr>
            <p:ph idx="2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00" name="Google Shape;300;p38"/>
          <p:cNvSpPr txBox="1"/>
          <p:nvPr>
            <p:ph idx="3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November 9th, 2025</a:t>
            </a:r>
            <a:endParaRPr/>
          </a:p>
        </p:txBody>
      </p:sp>
      <p:sp>
        <p:nvSpPr>
          <p:cNvPr id="301" name="Google Shape;301;p3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Today’s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Agena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9"/>
          <p:cNvSpPr txBox="1"/>
          <p:nvPr>
            <p:ph idx="3" type="body"/>
          </p:nvPr>
        </p:nvSpPr>
        <p:spPr>
          <a:xfrm>
            <a:off x="5028550" y="230050"/>
            <a:ext cx="3806400" cy="42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Midterm Review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Whiteboard Problem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Week 11 Intro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Week 11 Code Lecture</a:t>
            </a:r>
            <a:endParaRPr sz="2000"/>
          </a:p>
        </p:txBody>
      </p:sp>
      <p:sp>
        <p:nvSpPr>
          <p:cNvPr id="309" name="Google Shape;309;p39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10" name="Google Shape;310;p39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November 9th,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0"/>
          <p:cNvSpPr txBox="1"/>
          <p:nvPr>
            <p:ph type="title"/>
          </p:nvPr>
        </p:nvSpPr>
        <p:spPr>
          <a:xfrm>
            <a:off x="146450" y="186950"/>
            <a:ext cx="86013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11 - Dictionaries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317" name="Google Shape;317;p40"/>
          <p:cNvSpPr txBox="1"/>
          <p:nvPr>
            <p:ph idx="3" type="body"/>
          </p:nvPr>
        </p:nvSpPr>
        <p:spPr>
          <a:xfrm>
            <a:off x="244425" y="897050"/>
            <a:ext cx="4239600" cy="3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Dictionary Basics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Store key-value pairs: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{"key": "value"}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Access with brackets: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my_dict["key"]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Keys must be unique, values can be any type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Creating Dictionaries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All at once: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 = {"make": "Toyota", "year": 2020}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Start empty: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 = {}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then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car["make"] = "Toyota"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Add or update: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my_dict["key"] = "value"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Dictionary Methods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Check key: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"key" in my_dict: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Safe access: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my_dict.get("key", "default")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Get keys/values: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.keys()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.values()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.items()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40"/>
          <p:cNvSpPr txBox="1"/>
          <p:nvPr>
            <p:ph idx="3" type="body"/>
          </p:nvPr>
        </p:nvSpPr>
        <p:spPr>
          <a:xfrm>
            <a:off x="4770550" y="935700"/>
            <a:ext cx="4239600" cy="3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Looping Through Dictionaries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Keys only: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key in my_dict: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Values only: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value in my_dict.values():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Key-value pairs: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key, value in my_dict.items():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Common Patterns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Counting: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item in count: count[item] += 1 else: count[item] = 1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Find max: loop through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.items()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track highest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Build from lists: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range(len(list))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to pair up data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Nested Dictionaries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Dictionary of dictionaries: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students = {"Alice": {"age": 20, "major": "CS"}}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Access nested: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students["Alice"]["major"]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Loop nested: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name, info in students.items():</a:t>
            </a:r>
            <a:endParaRPr b="1" sz="1100"/>
          </a:p>
        </p:txBody>
      </p:sp>
      <p:sp>
        <p:nvSpPr>
          <p:cNvPr id="319" name="Google Shape;319;p40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20" name="Google Shape;320;p40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November 9th, 2025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type="title"/>
          </p:nvPr>
        </p:nvSpPr>
        <p:spPr>
          <a:xfrm>
            <a:off x="146450" y="186950"/>
            <a:ext cx="8997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Dictionary: Lost and Found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1"/>
          <p:cNvSpPr txBox="1"/>
          <p:nvPr/>
        </p:nvSpPr>
        <p:spPr>
          <a:xfrm>
            <a:off x="4379050" y="822075"/>
            <a:ext cx="4631100" cy="3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27" name="Google Shape;327;p4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ile:Lost and Found Box (6947296049).jpg - Wikimedia Commons" id="328" name="Google Shape;32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9650"/>
            <a:ext cx="4074250" cy="2715504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1"/>
          <p:cNvSpPr txBox="1"/>
          <p:nvPr/>
        </p:nvSpPr>
        <p:spPr>
          <a:xfrm>
            <a:off x="4379050" y="907250"/>
            <a:ext cx="463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0" name="Google Shape;330;p41"/>
          <p:cNvSpPr txBox="1"/>
          <p:nvPr/>
        </p:nvSpPr>
        <p:spPr>
          <a:xfrm>
            <a:off x="4396675" y="921925"/>
            <a:ext cx="4520100" cy="3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Add Items to the Lost and Found Below:</a:t>
            </a:r>
            <a:br>
              <a:rPr b="1"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br>
              <a:rPr b="1"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br>
              <a:rPr b="1"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br>
              <a:rPr b="1"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Add Owners of the items to the lost and found Below:</a:t>
            </a:r>
            <a:endParaRPr b="1"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1" name="Google Shape;331;p41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32" name="Google Shape;332;p41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November 9th, 2025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2"/>
          <p:cNvSpPr txBox="1"/>
          <p:nvPr>
            <p:ph type="title"/>
          </p:nvPr>
        </p:nvSpPr>
        <p:spPr>
          <a:xfrm>
            <a:off x="146450" y="186950"/>
            <a:ext cx="6478500" cy="7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with Lists</a:t>
            </a:r>
            <a:endParaRPr/>
          </a:p>
        </p:txBody>
      </p:sp>
      <p:sp>
        <p:nvSpPr>
          <p:cNvPr id="338" name="Google Shape;338;p42"/>
          <p:cNvSpPr txBox="1"/>
          <p:nvPr/>
        </p:nvSpPr>
        <p:spPr>
          <a:xfrm>
            <a:off x="169425" y="1015650"/>
            <a:ext cx="8747400" cy="3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Lost and Found Box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3A42"/>
                </a:solidFill>
              </a:rPr>
              <a:t>items  </a:t>
            </a:r>
            <a:r>
              <a:rPr lang="en" sz="1100">
                <a:solidFill>
                  <a:srgbClr val="4078F2"/>
                </a:solidFill>
              </a:rPr>
              <a:t>=</a:t>
            </a:r>
            <a:r>
              <a:rPr lang="en" sz="1100">
                <a:solidFill>
                  <a:srgbClr val="383A42"/>
                </a:solidFill>
              </a:rPr>
              <a:t> [</a:t>
            </a:r>
            <a:r>
              <a:rPr lang="en" sz="1100">
                <a:solidFill>
                  <a:srgbClr val="50A14F"/>
                </a:solidFill>
              </a:rPr>
              <a:t>"keys"</a:t>
            </a:r>
            <a:r>
              <a:rPr lang="en" sz="1100">
                <a:solidFill>
                  <a:srgbClr val="383A42"/>
                </a:solidFill>
              </a:rPr>
              <a:t>, </a:t>
            </a:r>
            <a:r>
              <a:rPr lang="en" sz="1100">
                <a:solidFill>
                  <a:srgbClr val="50A14F"/>
                </a:solidFill>
              </a:rPr>
              <a:t>"wallet"</a:t>
            </a:r>
            <a:r>
              <a:rPr lang="en" sz="1100">
                <a:solidFill>
                  <a:srgbClr val="383A42"/>
                </a:solidFill>
              </a:rPr>
              <a:t>, </a:t>
            </a:r>
            <a:r>
              <a:rPr lang="en" sz="1100">
                <a:solidFill>
                  <a:srgbClr val="50A14F"/>
                </a:solidFill>
              </a:rPr>
              <a:t>"phone"</a:t>
            </a:r>
            <a:r>
              <a:rPr lang="en" sz="1100">
                <a:solidFill>
                  <a:srgbClr val="383A42"/>
                </a:solidFill>
              </a:rPr>
              <a:t>, </a:t>
            </a:r>
            <a:r>
              <a:rPr lang="en" sz="1100">
                <a:solidFill>
                  <a:srgbClr val="50A14F"/>
                </a:solidFill>
              </a:rPr>
              <a:t>"laptop"</a:t>
            </a:r>
            <a:r>
              <a:rPr lang="en" sz="1100">
                <a:solidFill>
                  <a:srgbClr val="383A42"/>
                </a:solidFill>
              </a:rPr>
              <a:t>, </a:t>
            </a:r>
            <a:r>
              <a:rPr lang="en" sz="1100">
                <a:solidFill>
                  <a:srgbClr val="50A14F"/>
                </a:solidFill>
              </a:rPr>
              <a:t>"backpack"</a:t>
            </a:r>
            <a:r>
              <a:rPr lang="en" sz="1100">
                <a:solidFill>
                  <a:srgbClr val="383A42"/>
                </a:solidFill>
              </a:rPr>
              <a:t>]</a:t>
            </a:r>
            <a:endParaRPr sz="1100">
              <a:solidFill>
                <a:srgbClr val="383A42"/>
              </a:solidFill>
            </a:endParaRPr>
          </a:p>
          <a:p>
            <a:pPr indent="0" lvl="0" marL="0" marR="1397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3A42"/>
                </a:solidFill>
              </a:rPr>
              <a:t>owners </a:t>
            </a:r>
            <a:r>
              <a:rPr lang="en" sz="1100">
                <a:solidFill>
                  <a:srgbClr val="4078F2"/>
                </a:solidFill>
              </a:rPr>
              <a:t>=</a:t>
            </a:r>
            <a:r>
              <a:rPr lang="en" sz="1100">
                <a:solidFill>
                  <a:srgbClr val="383A42"/>
                </a:solidFill>
              </a:rPr>
              <a:t> [</a:t>
            </a:r>
            <a:r>
              <a:rPr lang="en" sz="1100">
                <a:solidFill>
                  <a:srgbClr val="50A14F"/>
                </a:solidFill>
              </a:rPr>
              <a:t>"Alice"</a:t>
            </a:r>
            <a:r>
              <a:rPr lang="en" sz="1100">
                <a:solidFill>
                  <a:srgbClr val="383A42"/>
                </a:solidFill>
              </a:rPr>
              <a:t>, </a:t>
            </a:r>
            <a:r>
              <a:rPr lang="en" sz="1100">
                <a:solidFill>
                  <a:srgbClr val="50A14F"/>
                </a:solidFill>
              </a:rPr>
              <a:t>"Bob"</a:t>
            </a:r>
            <a:r>
              <a:rPr lang="en" sz="1100">
                <a:solidFill>
                  <a:srgbClr val="383A42"/>
                </a:solidFill>
              </a:rPr>
              <a:t>,  </a:t>
            </a:r>
            <a:r>
              <a:rPr lang="en" sz="1100">
                <a:solidFill>
                  <a:srgbClr val="50A14F"/>
                </a:solidFill>
              </a:rPr>
              <a:t>"Charlie"</a:t>
            </a:r>
            <a:r>
              <a:rPr lang="en" sz="1100">
                <a:solidFill>
                  <a:srgbClr val="383A42"/>
                </a:solidFill>
              </a:rPr>
              <a:t>, </a:t>
            </a:r>
            <a:r>
              <a:rPr lang="en" sz="1100">
                <a:solidFill>
                  <a:srgbClr val="50A14F"/>
                </a:solidFill>
              </a:rPr>
              <a:t>"Diana"</a:t>
            </a:r>
            <a:r>
              <a:rPr lang="en" sz="1100">
                <a:solidFill>
                  <a:srgbClr val="383A42"/>
                </a:solidFill>
              </a:rPr>
              <a:t>,  </a:t>
            </a:r>
            <a:r>
              <a:rPr lang="en" sz="1100">
                <a:solidFill>
                  <a:srgbClr val="50A14F"/>
                </a:solidFill>
              </a:rPr>
              <a:t>"Eve"</a:t>
            </a:r>
            <a:r>
              <a:rPr lang="en" sz="1100">
                <a:solidFill>
                  <a:srgbClr val="383A42"/>
                </a:solidFill>
              </a:rPr>
              <a:t>]</a:t>
            </a:r>
            <a:endParaRPr sz="1100">
              <a:solidFill>
                <a:srgbClr val="383A42"/>
              </a:solidFill>
            </a:endParaRPr>
          </a:p>
          <a:p>
            <a:pPr indent="0" lvl="0" marL="0" marR="1397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 What Can Go Wrong?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Hard to Look Up:</a:t>
            </a:r>
            <a:r>
              <a:rPr lang="en" sz="1100">
                <a:solidFill>
                  <a:schemeClr val="dk1"/>
                </a:solidFill>
              </a:rPr>
              <a:t> "Who lost their phone?" → Find phone at position 2 → Check owners[2] → "Charlie"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Easy to Break: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3A42"/>
                </a:solidFill>
              </a:rPr>
              <a:t>items.remove(</a:t>
            </a:r>
            <a:r>
              <a:rPr lang="en" sz="1100">
                <a:solidFill>
                  <a:srgbClr val="50A14F"/>
                </a:solidFill>
              </a:rPr>
              <a:t>"wallet"</a:t>
            </a:r>
            <a:r>
              <a:rPr lang="en" sz="1100">
                <a:solidFill>
                  <a:srgbClr val="383A42"/>
                </a:solidFill>
              </a:rPr>
              <a:t>)  </a:t>
            </a:r>
            <a:r>
              <a:rPr i="1" lang="en" sz="1100">
                <a:solidFill>
                  <a:srgbClr val="A0A1A7"/>
                </a:solidFill>
              </a:rPr>
              <a:t># Bob claimed his wallet</a:t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A0A1A7"/>
                </a:solidFill>
              </a:rPr>
              <a:t># Forgot to update owners list!</a:t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26A4"/>
                </a:solidFill>
              </a:rPr>
              <a:t>print</a:t>
            </a:r>
            <a:r>
              <a:rPr lang="en" sz="1100">
                <a:solidFill>
                  <a:srgbClr val="383A42"/>
                </a:solidFill>
              </a:rPr>
              <a:t>(items[</a:t>
            </a:r>
            <a:r>
              <a:rPr lang="en" sz="1100">
                <a:solidFill>
                  <a:srgbClr val="B76B01"/>
                </a:solidFill>
              </a:rPr>
              <a:t>2</a:t>
            </a:r>
            <a:r>
              <a:rPr lang="en" sz="1100">
                <a:solidFill>
                  <a:srgbClr val="383A42"/>
                </a:solidFill>
              </a:rPr>
              <a:t>])   </a:t>
            </a:r>
            <a:r>
              <a:rPr i="1" lang="en" sz="1100">
                <a:solidFill>
                  <a:srgbClr val="A0A1A7"/>
                </a:solidFill>
              </a:rPr>
              <a:t># "laptop"</a:t>
            </a:r>
            <a:endParaRPr sz="1100">
              <a:solidFill>
                <a:srgbClr val="383A42"/>
              </a:solidFill>
            </a:endParaRPr>
          </a:p>
          <a:p>
            <a:pPr indent="0" lvl="0" marL="0" marR="1397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A626A4"/>
                </a:solidFill>
              </a:rPr>
              <a:t>print</a:t>
            </a:r>
            <a:r>
              <a:rPr lang="en" sz="1100">
                <a:solidFill>
                  <a:srgbClr val="383A42"/>
                </a:solidFill>
              </a:rPr>
              <a:t>(owners[</a:t>
            </a:r>
            <a:r>
              <a:rPr lang="en" sz="1100">
                <a:solidFill>
                  <a:srgbClr val="B76B01"/>
                </a:solidFill>
              </a:rPr>
              <a:t>2</a:t>
            </a:r>
            <a:r>
              <a:rPr lang="en" sz="1100">
                <a:solidFill>
                  <a:srgbClr val="383A42"/>
                </a:solidFill>
              </a:rPr>
              <a:t>])  </a:t>
            </a:r>
            <a:r>
              <a:rPr i="1" lang="en" sz="1100">
                <a:solidFill>
                  <a:srgbClr val="A0A1A7"/>
                </a:solidFill>
              </a:rPr>
              <a:t># "Charlie" ← Wrong! Says Charlie lost laptop</a:t>
            </a:r>
            <a:endParaRPr i="1" sz="1100">
              <a:solidFill>
                <a:srgbClr val="A0A1A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Confusing:</a:t>
            </a:r>
            <a:r>
              <a:rPr lang="en" sz="1100">
                <a:solidFill>
                  <a:schemeClr val="dk1"/>
                </a:solidFill>
              </a:rPr>
              <a:t> What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owners[3]</a:t>
            </a:r>
            <a:r>
              <a:rPr lang="en" sz="1100">
                <a:solidFill>
                  <a:schemeClr val="dk1"/>
                </a:solidFill>
              </a:rPr>
              <a:t>? Have to count positions… What if you wanted to add a field for how long they have been there?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9" name="Google Shape;339;p42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40" name="Google Shape;340;p42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November 9th, 2025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3"/>
          <p:cNvSpPr txBox="1"/>
          <p:nvPr>
            <p:ph type="title"/>
          </p:nvPr>
        </p:nvSpPr>
        <p:spPr>
          <a:xfrm>
            <a:off x="146450" y="186949"/>
            <a:ext cx="87276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Dictionaries Solve these Problems </a:t>
            </a:r>
            <a:endParaRPr/>
          </a:p>
        </p:txBody>
      </p:sp>
      <p:sp>
        <p:nvSpPr>
          <p:cNvPr id="346" name="Google Shape;346;p43"/>
          <p:cNvSpPr txBox="1"/>
          <p:nvPr>
            <p:ph idx="3" type="body"/>
          </p:nvPr>
        </p:nvSpPr>
        <p:spPr>
          <a:xfrm>
            <a:off x="244425" y="832650"/>
            <a:ext cx="4327500" cy="37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Lost and Found - The Right Way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lost_and_found </a:t>
            </a:r>
            <a:r>
              <a:rPr lang="en" sz="1100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sz="1100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100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"keys"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100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"Alice"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100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"wallet"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100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"Bob"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100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"phone"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100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"Charlie"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BONUS: Easy to Add More Info!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lost_and_found </a:t>
            </a:r>
            <a:r>
              <a:rPr lang="en" sz="1100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sz="1100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100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"phone"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: {</a:t>
            </a:r>
            <a:r>
              <a:rPr lang="en" sz="1100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"owner"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100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"Charlie"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"days"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100">
                <a:solidFill>
                  <a:srgbClr val="B76B0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},</a:t>
            </a:r>
            <a:endParaRPr sz="1100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100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"keys"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: {</a:t>
            </a:r>
            <a:r>
              <a:rPr lang="en" sz="1100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"owner"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100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"Alice"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50A14F"/>
                </a:solidFill>
                <a:latin typeface="Arial"/>
                <a:ea typeface="Arial"/>
                <a:cs typeface="Arial"/>
                <a:sym typeface="Arial"/>
              </a:rPr>
              <a:t>"days"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100">
                <a:solidFill>
                  <a:srgbClr val="B76B0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100">
              <a:solidFill>
                <a:srgbClr val="A0A1A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3"/>
          <p:cNvSpPr txBox="1"/>
          <p:nvPr/>
        </p:nvSpPr>
        <p:spPr>
          <a:xfrm>
            <a:off x="4636150" y="804550"/>
            <a:ext cx="4280700" cy="3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Easy Lookup: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"Who lost their phone?"</a:t>
            </a:r>
            <a:endParaRPr sz="1300">
              <a:solidFill>
                <a:schemeClr val="dk1"/>
              </a:solidFill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3A42"/>
                </a:solidFill>
              </a:rPr>
              <a:t>owner </a:t>
            </a:r>
            <a:r>
              <a:rPr lang="en" sz="1100">
                <a:solidFill>
                  <a:srgbClr val="4078F2"/>
                </a:solidFill>
              </a:rPr>
              <a:t>=</a:t>
            </a:r>
            <a:r>
              <a:rPr lang="en" sz="1100">
                <a:solidFill>
                  <a:srgbClr val="383A42"/>
                </a:solidFill>
              </a:rPr>
              <a:t> lost_and_found[</a:t>
            </a:r>
            <a:r>
              <a:rPr lang="en" sz="1100">
                <a:solidFill>
                  <a:srgbClr val="50A14F"/>
                </a:solidFill>
              </a:rPr>
              <a:t>"phone"</a:t>
            </a:r>
            <a:r>
              <a:rPr lang="en" sz="1100">
                <a:solidFill>
                  <a:srgbClr val="383A42"/>
                </a:solidFill>
              </a:rPr>
              <a:t>]  </a:t>
            </a:r>
            <a:r>
              <a:rPr i="1" lang="en" sz="1100">
                <a:solidFill>
                  <a:srgbClr val="A0A1A7"/>
                </a:solidFill>
              </a:rPr>
              <a:t># "Charlie" - Done!</a:t>
            </a:r>
            <a:endParaRPr i="1" sz="1100">
              <a:solidFill>
                <a:srgbClr val="A0A1A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Can't get Out of Sync:</a:t>
            </a:r>
            <a:r>
              <a:rPr lang="en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Remove entire entry at once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3A42"/>
                </a:solidFill>
              </a:rPr>
              <a:t>lost_and_found.pop(</a:t>
            </a:r>
            <a:r>
              <a:rPr lang="en" sz="1100">
                <a:solidFill>
                  <a:srgbClr val="50A14F"/>
                </a:solidFill>
              </a:rPr>
              <a:t>"wallet"</a:t>
            </a:r>
            <a:r>
              <a:rPr lang="en" sz="1100">
                <a:solidFill>
                  <a:srgbClr val="383A42"/>
                </a:solidFill>
              </a:rPr>
              <a:t>)  </a:t>
            </a:r>
            <a:r>
              <a:rPr i="1" lang="en" sz="1100">
                <a:solidFill>
                  <a:srgbClr val="A0A1A7"/>
                </a:solidFill>
              </a:rPr>
              <a:t># Removes "wallet": "Bob" completely</a:t>
            </a:r>
            <a:r>
              <a:rPr lang="en" sz="1100">
                <a:solidFill>
                  <a:srgbClr val="383A42"/>
                </a:solidFill>
              </a:rPr>
              <a:t>, e</a:t>
            </a:r>
            <a:r>
              <a:rPr i="1" lang="en" sz="1100">
                <a:solidFill>
                  <a:srgbClr val="A0A1A7"/>
                </a:solidFill>
              </a:rPr>
              <a:t>verything else still works perfectly!</a:t>
            </a:r>
            <a:endParaRPr i="1" sz="1100">
              <a:solidFill>
                <a:srgbClr val="A0A1A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Note: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pop("wallet")</a:t>
            </a:r>
            <a:r>
              <a:rPr lang="en" sz="1100">
                <a:solidFill>
                  <a:schemeClr val="dk1"/>
                </a:solidFill>
              </a:rPr>
              <a:t> removes the whole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"wallet": "Bob"</a:t>
            </a:r>
            <a:r>
              <a:rPr lang="en" sz="1100">
                <a:solidFill>
                  <a:schemeClr val="dk1"/>
                </a:solidFill>
              </a:rPr>
              <a:t> pair and returns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"Bob"</a:t>
            </a:r>
            <a:r>
              <a:rPr lang="en" sz="1100">
                <a:solidFill>
                  <a:schemeClr val="dk1"/>
                </a:solidFill>
              </a:rPr>
              <a:t>. The key "wallet" is gone from the dictionary.</a:t>
            </a:r>
            <a:br>
              <a:rPr b="1" lang="en" sz="1300">
                <a:solidFill>
                  <a:schemeClr val="dk1"/>
                </a:solidFill>
              </a:rPr>
            </a:br>
            <a:br>
              <a:rPr b="1" lang="en" sz="13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8" name="Google Shape;348;p43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49" name="Google Shape;349;p43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November 9th, 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fessional Development #2">
  <a:themeElements>
    <a:clrScheme name="Simple Light">
      <a:dk1>
        <a:srgbClr val="000000"/>
      </a:dk1>
      <a:lt1>
        <a:srgbClr val="FCEFE5"/>
      </a:lt1>
      <a:dk2>
        <a:srgbClr val="A47FA7"/>
      </a:dk2>
      <a:lt2>
        <a:srgbClr val="2170F2"/>
      </a:lt2>
      <a:accent1>
        <a:srgbClr val="FFD966"/>
      </a:accent1>
      <a:accent2>
        <a:srgbClr val="CC0000"/>
      </a:accent2>
      <a:accent3>
        <a:srgbClr val="646464"/>
      </a:accent3>
      <a:accent4>
        <a:srgbClr val="FFFFFF"/>
      </a:accent4>
      <a:accent5>
        <a:srgbClr val="3D0B37"/>
      </a:accent5>
      <a:accent6>
        <a:srgbClr val="63264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